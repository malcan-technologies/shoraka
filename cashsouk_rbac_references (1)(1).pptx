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6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21_0.xml" ContentType="application/vnd.ms-powerpoint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2"/>
  </p:notesMasterIdLst>
  <p:sldIdLst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7" r:id="rId17"/>
    <p:sldId id="279" r:id="rId18"/>
    <p:sldId id="281" r:id="rId19"/>
    <p:sldId id="282" r:id="rId20"/>
    <p:sldId id="285" r:id="rId21"/>
    <p:sldId id="288" r:id="rId22"/>
    <p:sldId id="289" r:id="rId23"/>
    <p:sldId id="290" r:id="rId24"/>
    <p:sldId id="291" r:id="rId25"/>
    <p:sldId id="292" r:id="rId26"/>
    <p:sldId id="293" r:id="rId27"/>
    <p:sldId id="305" r:id="rId28"/>
    <p:sldId id="306" r:id="rId29"/>
    <p:sldId id="307" r:id="rId30"/>
    <p:sldId id="310" r:id="rId31"/>
    <p:sldId id="309" r:id="rId32"/>
    <p:sldId id="312" r:id="rId33"/>
    <p:sldId id="313" r:id="rId34"/>
    <p:sldId id="311" r:id="rId35"/>
    <p:sldId id="314" r:id="rId36"/>
    <p:sldId id="315" r:id="rId37"/>
    <p:sldId id="316" r:id="rId38"/>
    <p:sldId id="319" r:id="rId39"/>
    <p:sldId id="317" r:id="rId40"/>
    <p:sldId id="318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294" r:id="rId50"/>
    <p:sldId id="296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 Listing" id="{9160E663-D04A-4248-995D-CA52A5C4FC3F}">
          <p14:sldIdLst>
            <p14:sldId id="259"/>
          </p14:sldIdLst>
        </p14:section>
        <p14:section name="Note Detail" id="{4D56209B-2A59-4241-8CB6-81C6E95E1F62}">
          <p14:sldIdLst>
            <p14:sldId id="261"/>
            <p14:sldId id="262"/>
            <p14:sldId id="264"/>
            <p14:sldId id="265"/>
            <p14:sldId id="266"/>
            <p14:sldId id="267"/>
            <p14:sldId id="268"/>
          </p14:sldIdLst>
        </p14:section>
        <p14:section name="Application Listing" id="{AFB1A70F-33CA-45B3-BE9B-404E780ACC79}">
          <p14:sldIdLst>
            <p14:sldId id="270"/>
          </p14:sldIdLst>
        </p14:section>
        <p14:section name="Application Review" id="{1B45B7B1-A364-443A-885E-6DE55043A152}">
          <p14:sldIdLst>
            <p14:sldId id="271"/>
            <p14:sldId id="272"/>
            <p14:sldId id="273"/>
            <p14:sldId id="277"/>
            <p14:sldId id="279"/>
            <p14:sldId id="281"/>
            <p14:sldId id="282"/>
            <p14:sldId id="285"/>
          </p14:sldIdLst>
        </p14:section>
        <p14:section name="Onboarding List" id="{637D5F4D-597F-440C-B247-557C66FFD7F1}">
          <p14:sldIdLst>
            <p14:sldId id="288"/>
          </p14:sldIdLst>
        </p14:section>
        <p14:section name="Onboarding Review" id="{F7E501D6-B487-46BC-86B4-34E327BDBDC8}">
          <p14:sldIdLst>
            <p14:sldId id="289"/>
            <p14:sldId id="290"/>
            <p14:sldId id="291"/>
            <p14:sldId id="292"/>
            <p14:sldId id="293"/>
          </p14:sldIdLst>
        </p14:section>
        <p14:section name="Users Listing" id="{C81E26D9-943A-47D3-A3D0-70A4BE2BA19F}">
          <p14:sldIdLst>
            <p14:sldId id="305"/>
          </p14:sldIdLst>
        </p14:section>
        <p14:section name="Users Detail" id="{F335728B-DF4A-4451-A31F-821D09CA9832}">
          <p14:sldIdLst>
            <p14:sldId id="306"/>
          </p14:sldIdLst>
        </p14:section>
        <p14:section name="Organizations Listing" id="{33367958-D4A3-4E00-A863-CB3EF08A6C5D}">
          <p14:sldIdLst>
            <p14:sldId id="307"/>
          </p14:sldIdLst>
        </p14:section>
        <p14:section name="Organizations Detail" id="{8312F8F0-1847-4397-92AF-63549C32EBF7}">
          <p14:sldIdLst>
            <p14:sldId id="310"/>
            <p14:sldId id="309"/>
          </p14:sldIdLst>
        </p14:section>
        <p14:section name="Document Management" id="{84EFC09C-B778-406A-B1A9-3A6735564A6C}">
          <p14:sldIdLst>
            <p14:sldId id="312"/>
          </p14:sldIdLst>
        </p14:section>
        <p14:section name="Contracts Listing" id="{6772C142-D435-4D7E-A950-303C765E1B5B}">
          <p14:sldIdLst>
            <p14:sldId id="313"/>
          </p14:sldIdLst>
        </p14:section>
        <p14:section name="Investments Listing" id="{95E37EC6-834F-4397-8419-369CF2049ABC}">
          <p14:sldIdLst>
            <p14:sldId id="311"/>
          </p14:sldIdLst>
        </p14:section>
        <p14:section name="Bucket Balances Listing" id="{F61BBB46-B5A0-4022-B9E8-43E963DB78A5}">
          <p14:sldIdLst>
            <p14:sldId id="314"/>
          </p14:sldIdLst>
        </p14:section>
        <p14:section name="Repayments Listing" id="{6AB70C05-06B1-45BE-A42C-629E8ED6E0B7}">
          <p14:sldIdLst>
            <p14:sldId id="315"/>
          </p14:sldIdLst>
        </p14:section>
        <p14:section name="Issuer Payouts Listing" id="{E8F313B9-C820-4BA1-8B73-3710A55D1852}">
          <p14:sldIdLst>
            <p14:sldId id="316"/>
          </p14:sldIdLst>
        </p14:section>
        <p14:section name="Product Configuration" id="{04908A4E-F4B6-4C0B-955D-327989B39286}">
          <p14:sldIdLst>
            <p14:sldId id="319"/>
          </p14:sldIdLst>
        </p14:section>
        <p14:section name="Service Fee Listing" id="{274A344E-5C7F-4F8C-B1F7-996E54D69CE6}">
          <p14:sldIdLst>
            <p14:sldId id="317"/>
          </p14:sldIdLst>
        </p14:section>
        <p14:section name="Platform Finance Settings" id="{F6D7B599-8E7C-4A0D-A914-CA55F7652680}">
          <p14:sldIdLst>
            <p14:sldId id="318"/>
          </p14:sldIdLst>
        </p14:section>
        <p14:section name="Roles" id="{3B0CD02A-6B0E-4EB3-9C3F-20E21189490E}">
          <p14:sldIdLst>
            <p14:sldId id="297"/>
            <p14:sldId id="298"/>
          </p14:sldIdLst>
        </p14:section>
        <p14:section name="Notification" id="{12AAC2CA-F840-46D9-8E64-086338A09C2C}">
          <p14:sldIdLst>
            <p14:sldId id="299"/>
            <p14:sldId id="300"/>
          </p14:sldIdLst>
        </p14:section>
        <p14:section name="Audit" id="{1D651F7E-BE27-4613-8CB3-80BD93CF81A3}">
          <p14:sldIdLst>
            <p14:sldId id="301"/>
            <p14:sldId id="302"/>
            <p14:sldId id="303"/>
            <p14:sldId id="304"/>
          </p14:sldIdLst>
        </p14:section>
        <p14:section name="Dashboard" id="{CCA173D7-F599-4366-BE68-881DFB93E4CC}">
          <p14:sldIdLst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D0A180-0F77-5E91-DCFF-974D3AF0244F}" name="Guest User" initials="GU" userId="S::urn:spo:tenantanon#8618d6f3-722a-4796-ac7d-581013ad9c37::" providerId="AD"/>
  <p188:author id="{5953C1C8-B665-2A95-38DF-174ABD64D1B6}" name="Max C'hng" initials="MC" userId="S::max.chng@malcan.io::d219fae2-0688-4f59-8925-ac6ec36db5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44546A"/>
    <a:srgbClr val="A5A5A5"/>
    <a:srgbClr val="FFC000"/>
    <a:srgbClr val="70AD47"/>
    <a:srgbClr val="ED7D31"/>
    <a:srgbClr val="32E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CF8AB-B02E-6718-1102-AFBC00E002CE}" v="7" dt="2026-06-21T12:17:32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4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3C660A-610D-4FFE-BDE6-A89F38A74284}" authorId="{5953C1C8-B665-2A95-38DF-174ABD64D1B6}" created="2026-06-11T21:54:49.0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41" creationId="{D620C751-CA70-3CDF-98A7-ABA5944D0DEC}"/>
    </ac:deMkLst>
    <p188:replyLst>
      <p188:reply id="{1741A7A1-1E47-4C2D-B138-7B2284F4D568}" authorId="{E7D0A180-0F77-5E91-DCFF-974D3AF0244F}" created="2026-06-12T09:47:03.279">
        <p188:txBody>
          <a:bodyPr/>
          <a:lstStyle/>
          <a:p>
            <a:r>
              <a:rPr lang="en-US"/>
              <a:t>Dashboard - Done
Roles / Notifications - Done</a:t>
            </a:r>
          </a:p>
        </p188:txBody>
      </p188:reply>
    </p188:replyLst>
    <p188:txBody>
      <a:bodyPr/>
      <a:lstStyle/>
      <a:p>
        <a:r>
          <a:rPr lang="en-MY"/>
          <a:t>1. Note List / Detail - Done
2. Application List / Review - Done
3. Onboarding List / Review - Done
4. Users / Organizations 
5. Platform Finance Settings
6. Product Settings
7. Roles / Notifications - ?
8. Audit Logs / Exports
9. Dashboard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B7ACEE-A461-4CB1-8A0B-BF658D178E6D}" authorId="{E7D0A180-0F77-5E91-DCFF-974D3AF0244F}" created="2026-06-15T02:47:01.5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53" creationId="{C3F69A63-DD73-B69F-9BB0-3C02DA44A3DD}"/>
    </ac:deMkLst>
    <p188:txBody>
      <a:bodyPr/>
      <a:lstStyle/>
      <a:p>
        <a:r>
          <a:rPr lang="en-US"/>
          <a:t>Generate Trustee Letter and Submit and Edit beneficiary is under notes.disbursement.manage
View Letter, Down Letter, pdf etc. should be under notes.view</a:t>
        </a:r>
      </a:p>
    </p188:txBody>
  </p188:cm>
</p188:cmLst>
</file>

<file path=ppt/comments/modernComment_12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5AE4EB-0AA7-41AA-936D-ECDD8F8E4434}" authorId="{5953C1C8-B665-2A95-38DF-174ABD64D1B6}" created="2026-06-15T17:21:07.150">
    <pc:sldMkLst xmlns:pc="http://schemas.microsoft.com/office/powerpoint/2013/main/command">
      <pc:docMk/>
      <pc:sldMk cId="0" sldId="289"/>
    </pc:sldMkLst>
    <p188:txBody>
      <a:bodyPr/>
      <a:lstStyle/>
      <a:p>
        <a:r>
          <a:rPr lang="en-US"/>
          <a:t>dont need to be detailed just onboarding.view and onboarding.manage is enough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49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s Registry 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623414" y="1209568"/>
            <a:ext cx="8956591" cy="514981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638251" y="19842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8924087" y="2207362"/>
            <a:ext cx="764438" cy="3441070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9"/>
          <p:cNvSpPr/>
          <p:nvPr/>
        </p:nvSpPr>
        <p:spPr>
          <a:xfrm>
            <a:off x="8951519" y="547908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7" name="Text 34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D620C751-CA70-3CDF-98A7-ABA5944D0DEC}"/>
              </a:ext>
            </a:extLst>
          </p:cNvPr>
          <p:cNvSpPr/>
          <p:nvPr/>
        </p:nvSpPr>
        <p:spPr>
          <a:xfrm>
            <a:off x="10118957" y="1209568"/>
            <a:ext cx="1023400" cy="29694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US" sz="12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EFEA6F4C-56A8-3AFE-12A8-109D16136D32}"/>
              </a:ext>
            </a:extLst>
          </p:cNvPr>
          <p:cNvSpPr/>
          <p:nvPr/>
        </p:nvSpPr>
        <p:spPr>
          <a:xfrm>
            <a:off x="10118956" y="2253082"/>
            <a:ext cx="1023401" cy="296942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notes.create</a:t>
            </a:r>
            <a:endParaRPr lang="en-MY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623414" y="1486555"/>
            <a:ext cx="8896035" cy="429045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15003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638251" y="27369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8255203" y="2691262"/>
            <a:ext cx="764438" cy="322600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3"/>
          <p:cNvSpPr/>
          <p:nvPr/>
        </p:nvSpPr>
        <p:spPr>
          <a:xfrm>
            <a:off x="8282635" y="27369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3" name="Text 30"/>
          <p:cNvSpPr/>
          <p:nvPr/>
        </p:nvSpPr>
        <p:spPr>
          <a:xfrm>
            <a:off x="638251" y="33284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0" name="Text 37"/>
          <p:cNvSpPr/>
          <p:nvPr/>
        </p:nvSpPr>
        <p:spPr>
          <a:xfrm>
            <a:off x="638251" y="397361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7" name="Text 44"/>
          <p:cNvSpPr/>
          <p:nvPr/>
        </p:nvSpPr>
        <p:spPr>
          <a:xfrm>
            <a:off x="638251" y="494141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52" name="Text 49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3FCD50AE-3E33-FCA8-9188-2F3AFE964FBB}"/>
              </a:ext>
            </a:extLst>
          </p:cNvPr>
          <p:cNvSpPr/>
          <p:nvPr/>
        </p:nvSpPr>
        <p:spPr>
          <a:xfrm>
            <a:off x="10033261" y="1986388"/>
            <a:ext cx="981140" cy="310970"/>
          </a:xfrm>
          <a:prstGeom prst="rect">
            <a:avLst/>
          </a:prstGeom>
          <a:solidFill>
            <a:srgbClr val="2563EB">
              <a:alpha val="22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  <p:sp>
        <p:nvSpPr>
          <p:cNvPr id="62" name="Shape 21">
            <a:extLst>
              <a:ext uri="{FF2B5EF4-FFF2-40B4-BE49-F238E27FC236}">
                <a16:creationId xmlns:a16="http://schemas.microsoft.com/office/drawing/2014/main" id="{2A720023-69F4-B77D-D7B0-01EAC47C1391}"/>
              </a:ext>
            </a:extLst>
          </p:cNvPr>
          <p:cNvSpPr/>
          <p:nvPr/>
        </p:nvSpPr>
        <p:spPr>
          <a:xfrm>
            <a:off x="10033261" y="2729966"/>
            <a:ext cx="1156067" cy="322600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notes.manage</a:t>
            </a:r>
            <a:endParaRPr lang="en-MY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/mnt/data/images26_extract/Admin Note Detail 2.png">
            <a:extLst>
              <a:ext uri="{FF2B5EF4-FFF2-40B4-BE49-F238E27FC236}">
                <a16:creationId xmlns:a16="http://schemas.microsoft.com/office/drawing/2014/main" id="{A9AC73B1-20DE-9445-BA17-C2B3819EF3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35" t="30730" r="14984" b="19389"/>
          <a:stretch>
            <a:fillRect/>
          </a:stretch>
        </p:blipFill>
        <p:spPr>
          <a:xfrm>
            <a:off x="185928" y="3882166"/>
            <a:ext cx="5826573" cy="2166589"/>
          </a:xfrm>
          <a:prstGeom prst="rect">
            <a:avLst/>
          </a:prstGeom>
        </p:spPr>
      </p:pic>
      <p:pic>
        <p:nvPicPr>
          <p:cNvPr id="5" name="Image 0" descr="/mnt/data/images26_extract/Admin Note/Note Detail Middle 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28" y="164052"/>
            <a:ext cx="6469743" cy="36403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2355" y="437297"/>
            <a:ext cx="6024673" cy="337252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747613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7518197" y="747613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7518197" y="24681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638251" y="3435949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8" name="Shape 35"/>
          <p:cNvSpPr/>
          <p:nvPr/>
        </p:nvSpPr>
        <p:spPr>
          <a:xfrm>
            <a:off x="638880" y="3544785"/>
            <a:ext cx="665066" cy="258209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7"/>
          <p:cNvSpPr/>
          <p:nvPr/>
        </p:nvSpPr>
        <p:spPr>
          <a:xfrm>
            <a:off x="924916" y="569415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5" name="Text 42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3168D106-4B49-9DC1-AA31-57126AF707CF}"/>
              </a:ext>
            </a:extLst>
          </p:cNvPr>
          <p:cNvSpPr/>
          <p:nvPr/>
        </p:nvSpPr>
        <p:spPr>
          <a:xfrm>
            <a:off x="7763048" y="911294"/>
            <a:ext cx="2256931" cy="295769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/>
              <a:t>notes.disbursement</a:t>
            </a:r>
            <a:r>
              <a:rPr lang="en-US" sz="1200" dirty="0" err="1"/>
              <a:t>.manage</a:t>
            </a:r>
            <a:endParaRPr lang="en-MY" sz="1200" err="1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52D4CB10-C8BD-CEDD-656D-6E8E98E4FA98}"/>
              </a:ext>
            </a:extLst>
          </p:cNvPr>
          <p:cNvSpPr/>
          <p:nvPr/>
        </p:nvSpPr>
        <p:spPr>
          <a:xfrm>
            <a:off x="220939" y="3897256"/>
            <a:ext cx="6835378" cy="325975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C3F69A63-DD73-B69F-9BB0-3C02DA44A3DD}"/>
              </a:ext>
            </a:extLst>
          </p:cNvPr>
          <p:cNvSpPr/>
          <p:nvPr/>
        </p:nvSpPr>
        <p:spPr>
          <a:xfrm>
            <a:off x="432977" y="5371786"/>
            <a:ext cx="5430738" cy="419204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02DACDB3-57F0-EC69-118A-A66F90207944}"/>
              </a:ext>
            </a:extLst>
          </p:cNvPr>
          <p:cNvSpPr/>
          <p:nvPr/>
        </p:nvSpPr>
        <p:spPr>
          <a:xfrm>
            <a:off x="7759221" y="461894"/>
            <a:ext cx="1369810" cy="28317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  <p:pic>
        <p:nvPicPr>
          <p:cNvPr id="64" name="Image 0" descr="/mnt/data/images26_extract/Admin Note Detail 2.png">
            <a:extLst>
              <a:ext uri="{FF2B5EF4-FFF2-40B4-BE49-F238E27FC236}">
                <a16:creationId xmlns:a16="http://schemas.microsoft.com/office/drawing/2014/main" id="{1150DCE6-FEF8-A4D0-283B-4FABF8F891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82" t="15760" r="783" b="16297"/>
          <a:stretch>
            <a:fillRect/>
          </a:stretch>
        </p:blipFill>
        <p:spPr>
          <a:xfrm>
            <a:off x="6046436" y="3875053"/>
            <a:ext cx="1369811" cy="3653053"/>
          </a:xfrm>
          <a:prstGeom prst="rect">
            <a:avLst/>
          </a:prstGeom>
        </p:spPr>
      </p:pic>
      <p:sp>
        <p:nvSpPr>
          <p:cNvPr id="2" name="Shape 27">
            <a:extLst>
              <a:ext uri="{FF2B5EF4-FFF2-40B4-BE49-F238E27FC236}">
                <a16:creationId xmlns:a16="http://schemas.microsoft.com/office/drawing/2014/main" id="{A623AE85-F3A0-6FB1-79F6-CFCE46EC05E7}"/>
              </a:ext>
            </a:extLst>
          </p:cNvPr>
          <p:cNvSpPr/>
          <p:nvPr/>
        </p:nvSpPr>
        <p:spPr>
          <a:xfrm>
            <a:off x="6096524" y="3897255"/>
            <a:ext cx="1098337" cy="328494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35">
            <a:extLst>
              <a:ext uri="{FF2B5EF4-FFF2-40B4-BE49-F238E27FC236}">
                <a16:creationId xmlns:a16="http://schemas.microsoft.com/office/drawing/2014/main" id="{CF3767B4-4832-A7A6-DDBF-E6C2CA071FC2}"/>
              </a:ext>
            </a:extLst>
          </p:cNvPr>
          <p:cNvSpPr/>
          <p:nvPr/>
        </p:nvSpPr>
        <p:spPr>
          <a:xfrm>
            <a:off x="5004977" y="5793125"/>
            <a:ext cx="428433" cy="168194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35">
            <a:extLst>
              <a:ext uri="{FF2B5EF4-FFF2-40B4-BE49-F238E27FC236}">
                <a16:creationId xmlns:a16="http://schemas.microsoft.com/office/drawing/2014/main" id="{B31DBC18-A17A-3606-2C96-32287DD7C099}"/>
              </a:ext>
            </a:extLst>
          </p:cNvPr>
          <p:cNvSpPr/>
          <p:nvPr/>
        </p:nvSpPr>
        <p:spPr>
          <a:xfrm>
            <a:off x="5435283" y="5793125"/>
            <a:ext cx="428433" cy="168194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Middl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740032" y="870639"/>
            <a:ext cx="6682610" cy="112910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638251" y="22530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7422642" y="23606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8378190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7" name="Text 34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FC780748-8B9A-AADB-1EF6-DF4ED3E9FA6F}"/>
              </a:ext>
            </a:extLst>
          </p:cNvPr>
          <p:cNvSpPr/>
          <p:nvPr/>
        </p:nvSpPr>
        <p:spPr>
          <a:xfrm>
            <a:off x="657736" y="2208451"/>
            <a:ext cx="6856347" cy="3860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400800" y="3791825"/>
            <a:ext cx="936171" cy="325847"/>
          </a:xfrm>
          <a:prstGeom prst="rect">
            <a:avLst/>
          </a:prstGeom>
          <a:solidFill>
            <a:srgbClr val="D97800">
              <a:alpha val="22000"/>
            </a:srgbClr>
          </a:solidFill>
          <a:ln w="27940">
            <a:solidFill>
              <a:srgbClr val="D978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F4A5F474-6FC8-5220-6309-54B8E7CE3D89}"/>
              </a:ext>
            </a:extLst>
          </p:cNvPr>
          <p:cNvSpPr/>
          <p:nvPr/>
        </p:nvSpPr>
        <p:spPr>
          <a:xfrm>
            <a:off x="7642098" y="855146"/>
            <a:ext cx="1931670" cy="517357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0672920A-38E3-AE15-3B56-0290089DB2DD}"/>
              </a:ext>
            </a:extLst>
          </p:cNvPr>
          <p:cNvSpPr/>
          <p:nvPr/>
        </p:nvSpPr>
        <p:spPr>
          <a:xfrm>
            <a:off x="10213216" y="2746176"/>
            <a:ext cx="1369810" cy="28317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726297F6-6B89-8A64-C81E-42155EA46077}"/>
              </a:ext>
            </a:extLst>
          </p:cNvPr>
          <p:cNvSpPr/>
          <p:nvPr/>
        </p:nvSpPr>
        <p:spPr>
          <a:xfrm>
            <a:off x="10212231" y="3108167"/>
            <a:ext cx="2240838" cy="294359"/>
          </a:xfrm>
          <a:prstGeom prst="rect">
            <a:avLst/>
          </a:prstGeom>
          <a:solidFill>
            <a:srgbClr val="D97800">
              <a:alpha val="22000"/>
            </a:srgbClr>
          </a:solidFill>
          <a:ln w="27940">
            <a:solidFill>
              <a:srgbClr val="D9780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/>
              <a:t>notes.repayment</a:t>
            </a:r>
            <a:r>
              <a:rPr lang="en-US" sz="1200" dirty="0" err="1"/>
              <a:t>.manage</a:t>
            </a:r>
            <a:endParaRPr lang="en-MY" sz="1200" err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Middle 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626181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2843" y="1044472"/>
            <a:ext cx="6517800" cy="50351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638251" y="21455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5998029" y="3827643"/>
            <a:ext cx="1137557" cy="396014"/>
          </a:xfrm>
          <a:prstGeom prst="rect">
            <a:avLst/>
          </a:prstGeom>
          <a:solidFill>
            <a:srgbClr val="D64545">
              <a:alpha val="22000"/>
            </a:srgbClr>
          </a:solidFill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3"/>
          <p:cNvSpPr/>
          <p:nvPr/>
        </p:nvSpPr>
        <p:spPr>
          <a:xfrm>
            <a:off x="6084875" y="3274649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3" name="Text 30"/>
          <p:cNvSpPr/>
          <p:nvPr/>
        </p:nvSpPr>
        <p:spPr>
          <a:xfrm>
            <a:off x="638251" y="36510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0" name="Text 37"/>
          <p:cNvSpPr/>
          <p:nvPr/>
        </p:nvSpPr>
        <p:spPr>
          <a:xfrm>
            <a:off x="8473745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5" name="Text 42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23E4EAE3-2249-3718-8C9C-25C79A88AC4A}"/>
              </a:ext>
            </a:extLst>
          </p:cNvPr>
          <p:cNvSpPr/>
          <p:nvPr/>
        </p:nvSpPr>
        <p:spPr>
          <a:xfrm>
            <a:off x="5325411" y="4321542"/>
            <a:ext cx="1848111" cy="396014"/>
          </a:xfrm>
          <a:prstGeom prst="rect">
            <a:avLst/>
          </a:prstGeom>
          <a:solidFill>
            <a:srgbClr val="D64545">
              <a:alpha val="22000"/>
            </a:srgbClr>
          </a:solidFill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A291D645-6261-AE07-1E12-92B81192C68F}"/>
              </a:ext>
            </a:extLst>
          </p:cNvPr>
          <p:cNvSpPr/>
          <p:nvPr/>
        </p:nvSpPr>
        <p:spPr>
          <a:xfrm>
            <a:off x="5325411" y="4841183"/>
            <a:ext cx="1848111" cy="321014"/>
          </a:xfrm>
          <a:prstGeom prst="rect">
            <a:avLst/>
          </a:prstGeom>
          <a:solidFill>
            <a:srgbClr val="D64545">
              <a:alpha val="22000"/>
            </a:srgbClr>
          </a:solidFill>
          <a:ln w="2794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273DBE21-6715-F4ED-8880-99EFF4301C34}"/>
              </a:ext>
            </a:extLst>
          </p:cNvPr>
          <p:cNvSpPr/>
          <p:nvPr/>
        </p:nvSpPr>
        <p:spPr>
          <a:xfrm>
            <a:off x="7609114" y="1029467"/>
            <a:ext cx="1953986" cy="50351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30A8EC51-7AB6-3A35-F980-2033C45AE04C}"/>
              </a:ext>
            </a:extLst>
          </p:cNvPr>
          <p:cNvSpPr/>
          <p:nvPr/>
        </p:nvSpPr>
        <p:spPr>
          <a:xfrm>
            <a:off x="10081695" y="3162075"/>
            <a:ext cx="1112521" cy="2669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CEEB00B5-C564-30E4-BA87-4AD06E926947}"/>
              </a:ext>
            </a:extLst>
          </p:cNvPr>
          <p:cNvSpPr/>
          <p:nvPr/>
        </p:nvSpPr>
        <p:spPr>
          <a:xfrm>
            <a:off x="10081684" y="3557957"/>
            <a:ext cx="2310702" cy="268235"/>
          </a:xfrm>
          <a:prstGeom prst="rect">
            <a:avLst/>
          </a:prstGeom>
          <a:solidFill>
            <a:srgbClr val="D64545">
              <a:alpha val="22000"/>
            </a:srgbClr>
          </a:solidFill>
          <a:ln w="27940">
            <a:solidFill>
              <a:srgbClr val="D64545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/>
              <a:t>notes.settlement.manage</a:t>
            </a:r>
            <a:endParaRPr lang="en-MY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Middle 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0819" y="755660"/>
            <a:ext cx="6668047" cy="521537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8013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5135174" y="5018114"/>
            <a:ext cx="2058913" cy="310840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638251" y="375855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6275984" y="408115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8473745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7" name="Text 34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E9EDC774-A6C2-7C60-276A-D35D3B2B1A1B}"/>
              </a:ext>
            </a:extLst>
          </p:cNvPr>
          <p:cNvSpPr/>
          <p:nvPr/>
        </p:nvSpPr>
        <p:spPr>
          <a:xfrm>
            <a:off x="7478432" y="755660"/>
            <a:ext cx="2028906" cy="521537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8964C13F-2B12-9FC1-E1BE-4551FF2C88B6}"/>
              </a:ext>
            </a:extLst>
          </p:cNvPr>
          <p:cNvSpPr/>
          <p:nvPr/>
        </p:nvSpPr>
        <p:spPr>
          <a:xfrm>
            <a:off x="9983646" y="5148188"/>
            <a:ext cx="2058913" cy="310840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>
                <a:ea typeface="+mn-lt"/>
                <a:cs typeface="+mn-lt"/>
              </a:rPr>
              <a:t>notes.default.manage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66AF51F7-F4EC-867E-BCCC-01AD3DE0E0D0}"/>
              </a:ext>
            </a:extLst>
          </p:cNvPr>
          <p:cNvSpPr/>
          <p:nvPr/>
        </p:nvSpPr>
        <p:spPr>
          <a:xfrm>
            <a:off x="9983646" y="4547537"/>
            <a:ext cx="1112521" cy="2669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Middle 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8251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1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6658204" y="17154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638251" y="23606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7231532" y="24681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8473745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4" name="Text 41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BAB383C5-B257-6E8A-6D5A-D51AC52349E1}"/>
              </a:ext>
            </a:extLst>
          </p:cNvPr>
          <p:cNvSpPr/>
          <p:nvPr/>
        </p:nvSpPr>
        <p:spPr>
          <a:xfrm>
            <a:off x="610819" y="755660"/>
            <a:ext cx="6807601" cy="204240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3AFE705A-DDA6-540E-4DF5-08749B480D44}"/>
              </a:ext>
            </a:extLst>
          </p:cNvPr>
          <p:cNvSpPr/>
          <p:nvPr/>
        </p:nvSpPr>
        <p:spPr>
          <a:xfrm>
            <a:off x="7573868" y="728894"/>
            <a:ext cx="2233879" cy="521537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A3EC0755-F8EA-C5BC-E308-298D10A08F33}"/>
              </a:ext>
            </a:extLst>
          </p:cNvPr>
          <p:cNvSpPr/>
          <p:nvPr/>
        </p:nvSpPr>
        <p:spPr>
          <a:xfrm>
            <a:off x="588523" y="3005832"/>
            <a:ext cx="6807601" cy="215002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556A07AE-85D3-21F2-6D72-DD872DB0A8DD}"/>
              </a:ext>
            </a:extLst>
          </p:cNvPr>
          <p:cNvSpPr/>
          <p:nvPr/>
        </p:nvSpPr>
        <p:spPr>
          <a:xfrm>
            <a:off x="10166299" y="2201223"/>
            <a:ext cx="1112521" cy="2669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9F1B5AB4-7C63-C69E-1EF3-4C01A462A3E5}"/>
              </a:ext>
            </a:extLst>
          </p:cNvPr>
          <p:cNvSpPr/>
          <p:nvPr/>
        </p:nvSpPr>
        <p:spPr>
          <a:xfrm>
            <a:off x="6551597" y="2364562"/>
            <a:ext cx="821784" cy="346699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62A4D1DA-08F9-7291-3B54-CDB4D482E99A}"/>
              </a:ext>
            </a:extLst>
          </p:cNvPr>
          <p:cNvSpPr/>
          <p:nvPr/>
        </p:nvSpPr>
        <p:spPr>
          <a:xfrm>
            <a:off x="5215855" y="1441197"/>
            <a:ext cx="2023054" cy="346699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871B084A-73E0-EA73-24F6-FCC90ED73ED3}"/>
              </a:ext>
            </a:extLst>
          </p:cNvPr>
          <p:cNvSpPr/>
          <p:nvPr/>
        </p:nvSpPr>
        <p:spPr>
          <a:xfrm>
            <a:off x="10164374" y="2669361"/>
            <a:ext cx="1933407" cy="266018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/>
              <a:t>notes.default.manage</a:t>
            </a:r>
            <a:endParaRPr lang="en-MY" sz="1200" err="1"/>
          </a:p>
          <a:p>
            <a:endParaRPr lang="en-MY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dmin Note/Note Detail 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672084"/>
            <a:ext cx="9555480" cy="5376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8251" y="729325"/>
            <a:ext cx="164592" cy="164592"/>
          </a:xfrm>
          <a:prstGeom prst="ellipse">
            <a:avLst/>
          </a:prstGeom>
          <a:solidFill>
            <a:srgbClr val="26547C"/>
          </a:solidFill>
          <a:ln w="12700">
            <a:solidFill>
              <a:srgbClr val="26547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747613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1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638251" y="21993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8473745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Text 27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8394B613-7894-4CB3-4C89-62E6E13776E5}"/>
              </a:ext>
            </a:extLst>
          </p:cNvPr>
          <p:cNvSpPr/>
          <p:nvPr/>
        </p:nvSpPr>
        <p:spPr>
          <a:xfrm>
            <a:off x="610819" y="755660"/>
            <a:ext cx="6807601" cy="97625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8AAEFFF7-D1D3-2FD2-4939-47C7EB47DF08}"/>
              </a:ext>
            </a:extLst>
          </p:cNvPr>
          <p:cNvSpPr/>
          <p:nvPr/>
        </p:nvSpPr>
        <p:spPr>
          <a:xfrm>
            <a:off x="638251" y="4383991"/>
            <a:ext cx="8838810" cy="155052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166F1104-BC85-2E8F-D225-7BCF6B3A05D8}"/>
              </a:ext>
            </a:extLst>
          </p:cNvPr>
          <p:cNvSpPr/>
          <p:nvPr/>
        </p:nvSpPr>
        <p:spPr>
          <a:xfrm>
            <a:off x="7581649" y="793332"/>
            <a:ext cx="1895412" cy="345771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B40B67FB-7B2E-DF65-2E94-5E40A3A160F9}"/>
              </a:ext>
            </a:extLst>
          </p:cNvPr>
          <p:cNvSpPr/>
          <p:nvPr/>
        </p:nvSpPr>
        <p:spPr>
          <a:xfrm>
            <a:off x="10166299" y="1934298"/>
            <a:ext cx="1112521" cy="2669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notes.view</a:t>
            </a:r>
            <a:endParaRPr lang="en-MY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L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1683464" y="1293327"/>
            <a:ext cx="7951041" cy="69092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638251" y="13390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1700326" y="2070567"/>
            <a:ext cx="7951041" cy="83007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638251" y="22530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8990443" y="2322576"/>
            <a:ext cx="573329" cy="26923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8855964" y="23606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Text 27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95448B86-198D-BA00-7AE2-DB8964649218}"/>
              </a:ext>
            </a:extLst>
          </p:cNvPr>
          <p:cNvSpPr/>
          <p:nvPr/>
        </p:nvSpPr>
        <p:spPr>
          <a:xfrm>
            <a:off x="10132077" y="891507"/>
            <a:ext cx="1385729" cy="32567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Financial 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9331" y="1285279"/>
            <a:ext cx="7173986" cy="482543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924916" y="24681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5416018" y="3432663"/>
            <a:ext cx="2257303" cy="403263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1211580" y="429621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5798210" y="25756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7" name="Shape 34"/>
          <p:cNvSpPr/>
          <p:nvPr/>
        </p:nvSpPr>
        <p:spPr>
          <a:xfrm>
            <a:off x="7951971" y="1872325"/>
            <a:ext cx="1321990" cy="108338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6"/>
          <p:cNvSpPr/>
          <p:nvPr/>
        </p:nvSpPr>
        <p:spPr>
          <a:xfrm>
            <a:off x="7327087" y="10702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AEEA77F1-1A32-3DC4-CE49-D990731CA356}"/>
              </a:ext>
            </a:extLst>
          </p:cNvPr>
          <p:cNvSpPr/>
          <p:nvPr/>
        </p:nvSpPr>
        <p:spPr>
          <a:xfrm>
            <a:off x="7983393" y="3140964"/>
            <a:ext cx="1321990" cy="108338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7505BAFB-CB26-4719-DB99-8534A48AE68F}"/>
              </a:ext>
            </a:extLst>
          </p:cNvPr>
          <p:cNvSpPr/>
          <p:nvPr/>
        </p:nvSpPr>
        <p:spPr>
          <a:xfrm>
            <a:off x="7983393" y="4555998"/>
            <a:ext cx="1321990" cy="108338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1EA6CB1E-3B05-6A86-D3FB-551DBCA7439D}"/>
              </a:ext>
            </a:extLst>
          </p:cNvPr>
          <p:cNvSpPr/>
          <p:nvPr/>
        </p:nvSpPr>
        <p:spPr>
          <a:xfrm>
            <a:off x="10122708" y="2028571"/>
            <a:ext cx="1529130" cy="26953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606AFDB2-8FD5-87A6-A88E-248820BECA97}"/>
              </a:ext>
            </a:extLst>
          </p:cNvPr>
          <p:cNvSpPr/>
          <p:nvPr/>
        </p:nvSpPr>
        <p:spPr>
          <a:xfrm>
            <a:off x="10067949" y="3180037"/>
            <a:ext cx="2349494" cy="251605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>
                <a:ea typeface="+mn-lt"/>
                <a:cs typeface="+mn-lt"/>
              </a:rPr>
              <a:t>applications.financial.manage</a:t>
            </a:r>
            <a:endParaRPr lang="en-US" dirty="0" err="1">
              <a:ea typeface="+mn-lt"/>
              <a:cs typeface="+mn-lt"/>
            </a:endParaRP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4B3359D1-EE9F-27DA-95FE-2E7F48CF2C13}"/>
              </a:ext>
            </a:extLst>
          </p:cNvPr>
          <p:cNvSpPr/>
          <p:nvPr/>
        </p:nvSpPr>
        <p:spPr>
          <a:xfrm>
            <a:off x="7891333" y="1434221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 sz="1200" dirty="0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C7DBD83E-9260-29AA-D9E9-D62118B40C0C}"/>
              </a:ext>
            </a:extLst>
          </p:cNvPr>
          <p:cNvSpPr/>
          <p:nvPr/>
        </p:nvSpPr>
        <p:spPr>
          <a:xfrm>
            <a:off x="10070402" y="1402348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applications.manage</a:t>
            </a:r>
            <a:endParaRPr lang="en-MY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Financial 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758205" y="970727"/>
            <a:ext cx="7077779" cy="470339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10702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3027121" y="12315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924916" y="494141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Text 27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1C569C0E-2135-410C-B3B1-3FC7160E9EB5}"/>
              </a:ext>
            </a:extLst>
          </p:cNvPr>
          <p:cNvSpPr/>
          <p:nvPr/>
        </p:nvSpPr>
        <p:spPr>
          <a:xfrm>
            <a:off x="10268043" y="1053420"/>
            <a:ext cx="1529130" cy="26953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Financial 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733982" y="890077"/>
            <a:ext cx="7023279" cy="156850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9626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924916" y="3435949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5989320" y="483388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Text 27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DD0CB504-EBAF-2D7F-710C-4AB67E13B839}"/>
              </a:ext>
            </a:extLst>
          </p:cNvPr>
          <p:cNvSpPr/>
          <p:nvPr/>
        </p:nvSpPr>
        <p:spPr>
          <a:xfrm>
            <a:off x="733982" y="2541301"/>
            <a:ext cx="7089540" cy="67040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51BEFF8D-445E-EBEF-EEBA-F83CE2A254DE}"/>
              </a:ext>
            </a:extLst>
          </p:cNvPr>
          <p:cNvSpPr/>
          <p:nvPr/>
        </p:nvSpPr>
        <p:spPr>
          <a:xfrm>
            <a:off x="700851" y="3319527"/>
            <a:ext cx="7089540" cy="94160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5ED6132E-B58E-B7FE-6F8A-551F17B9754C}"/>
              </a:ext>
            </a:extLst>
          </p:cNvPr>
          <p:cNvSpPr/>
          <p:nvPr/>
        </p:nvSpPr>
        <p:spPr>
          <a:xfrm>
            <a:off x="9962019" y="4008892"/>
            <a:ext cx="1529130" cy="26953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2D37B3DC-D491-B879-659A-73B65555C2B3}"/>
              </a:ext>
            </a:extLst>
          </p:cNvPr>
          <p:cNvSpPr/>
          <p:nvPr/>
        </p:nvSpPr>
        <p:spPr>
          <a:xfrm>
            <a:off x="727745" y="4449080"/>
            <a:ext cx="7107469" cy="125536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520A889F-09FB-6D00-A270-E0AA1B829201}"/>
              </a:ext>
            </a:extLst>
          </p:cNvPr>
          <p:cNvSpPr/>
          <p:nvPr/>
        </p:nvSpPr>
        <p:spPr>
          <a:xfrm>
            <a:off x="6716168" y="5076609"/>
            <a:ext cx="1074222" cy="46647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Business &amp; Guarantor 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8363" y="849751"/>
            <a:ext cx="6211062" cy="367543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9626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1116025" y="3543483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924916" y="461881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3887114" y="472635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4842662" y="472635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0A8C3C69-A1A3-D656-4117-83F158A16A0B}"/>
              </a:ext>
            </a:extLst>
          </p:cNvPr>
          <p:cNvSpPr/>
          <p:nvPr/>
        </p:nvSpPr>
        <p:spPr>
          <a:xfrm>
            <a:off x="10077244" y="3064403"/>
            <a:ext cx="1365885" cy="30451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CC0ABCE6-0529-DDE9-15FD-65AEF9E7F5EF}"/>
              </a:ext>
            </a:extLst>
          </p:cNvPr>
          <p:cNvSpPr/>
          <p:nvPr/>
        </p:nvSpPr>
        <p:spPr>
          <a:xfrm>
            <a:off x="10075368" y="3437902"/>
            <a:ext cx="2995996" cy="313474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applications.</a:t>
            </a:r>
            <a:r>
              <a:rPr lang="en-US" sz="1200" dirty="0" err="1">
                <a:ea typeface="+mn-lt"/>
                <a:cs typeface="+mn-lt"/>
              </a:rPr>
              <a:t>business_guarantor.manage</a:t>
            </a:r>
            <a:endParaRPr lang="en-US" dirty="0" err="1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FC74CBF6-80AF-16A5-FDA9-8CCCAF7001DB}"/>
              </a:ext>
            </a:extLst>
          </p:cNvPr>
          <p:cNvSpPr/>
          <p:nvPr/>
        </p:nvSpPr>
        <p:spPr>
          <a:xfrm>
            <a:off x="618363" y="4618817"/>
            <a:ext cx="6211062" cy="146514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A31054E3-7F4C-4073-0E59-7AF8E3713C4E}"/>
              </a:ext>
            </a:extLst>
          </p:cNvPr>
          <p:cNvSpPr/>
          <p:nvPr/>
        </p:nvSpPr>
        <p:spPr>
          <a:xfrm>
            <a:off x="8140581" y="783771"/>
            <a:ext cx="1328561" cy="119113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7D32FC5E-A88D-91BD-5B5F-484EDA78D76F}"/>
              </a:ext>
            </a:extLst>
          </p:cNvPr>
          <p:cNvSpPr/>
          <p:nvPr/>
        </p:nvSpPr>
        <p:spPr>
          <a:xfrm>
            <a:off x="5010310" y="4818466"/>
            <a:ext cx="2664302" cy="394158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Documents 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3499" y="1258397"/>
            <a:ext cx="7193762" cy="1539667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2629449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5607101" y="25756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4938217" y="33284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Text 29"/>
          <p:cNvSpPr/>
          <p:nvPr/>
        </p:nvSpPr>
        <p:spPr>
          <a:xfrm>
            <a:off x="5607101" y="33284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9" name="Text 36"/>
          <p:cNvSpPr/>
          <p:nvPr/>
        </p:nvSpPr>
        <p:spPr>
          <a:xfrm>
            <a:off x="6275984" y="33284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4C810E5A-B0C3-990B-6CB6-DFC77A431E12}"/>
              </a:ext>
            </a:extLst>
          </p:cNvPr>
          <p:cNvSpPr/>
          <p:nvPr/>
        </p:nvSpPr>
        <p:spPr>
          <a:xfrm>
            <a:off x="546081" y="2953794"/>
            <a:ext cx="7193762" cy="307210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D6157259-3BCF-4E59-A675-04F89B1888BB}"/>
              </a:ext>
            </a:extLst>
          </p:cNvPr>
          <p:cNvSpPr/>
          <p:nvPr/>
        </p:nvSpPr>
        <p:spPr>
          <a:xfrm>
            <a:off x="7980784" y="1847088"/>
            <a:ext cx="1620898" cy="120311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77F38DB7-1289-6EEA-9D24-F2D471F11D79}"/>
              </a:ext>
            </a:extLst>
          </p:cNvPr>
          <p:cNvSpPr/>
          <p:nvPr/>
        </p:nvSpPr>
        <p:spPr>
          <a:xfrm>
            <a:off x="7980784" y="3099816"/>
            <a:ext cx="1620898" cy="120311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BA462462-0FF4-3CD5-419C-15EB195CEA15}"/>
              </a:ext>
            </a:extLst>
          </p:cNvPr>
          <p:cNvSpPr/>
          <p:nvPr/>
        </p:nvSpPr>
        <p:spPr>
          <a:xfrm>
            <a:off x="7980784" y="4409212"/>
            <a:ext cx="1620898" cy="120311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4BCA7F86-71BF-B5B2-D6BC-BD030BE4D80D}"/>
              </a:ext>
            </a:extLst>
          </p:cNvPr>
          <p:cNvSpPr/>
          <p:nvPr/>
        </p:nvSpPr>
        <p:spPr>
          <a:xfrm>
            <a:off x="10074666" y="3682842"/>
            <a:ext cx="2746583" cy="278499"/>
          </a:xfrm>
          <a:prstGeom prst="rect">
            <a:avLst/>
          </a:prstGeom>
          <a:solidFill>
            <a:srgbClr val="D7A800">
              <a:alpha val="22000"/>
            </a:srgbClr>
          </a:solidFill>
          <a:ln w="27940">
            <a:solidFill>
              <a:srgbClr val="D7A80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applications.documents.manage</a:t>
            </a:r>
            <a:endParaRPr lang="en-MY" sz="1200" dirty="0" err="1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B9DC42F6-B442-2747-7F5B-58B5E607AB2E}"/>
              </a:ext>
            </a:extLst>
          </p:cNvPr>
          <p:cNvSpPr/>
          <p:nvPr/>
        </p:nvSpPr>
        <p:spPr>
          <a:xfrm>
            <a:off x="7152028" y="3769403"/>
            <a:ext cx="538622" cy="1992433"/>
          </a:xfrm>
          <a:prstGeom prst="rect">
            <a:avLst/>
          </a:prstGeom>
          <a:solidFill>
            <a:srgbClr val="D7A800">
              <a:alpha val="22000"/>
            </a:srgbClr>
          </a:solidFill>
          <a:ln w="27940">
            <a:solidFill>
              <a:srgbClr val="D7A800"/>
            </a:solidFill>
            <a:prstDash val="solid"/>
          </a:ln>
        </p:spPr>
        <p:txBody>
          <a:bodyPr/>
          <a:lstStyle/>
          <a:p>
            <a:endParaRPr lang="en-MY" sz="120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6218F3E0-E8D2-B92A-E94B-48E337842B99}"/>
              </a:ext>
            </a:extLst>
          </p:cNvPr>
          <p:cNvSpPr/>
          <p:nvPr/>
        </p:nvSpPr>
        <p:spPr>
          <a:xfrm>
            <a:off x="10070402" y="946504"/>
            <a:ext cx="1365885" cy="30451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BC438BB4-AFC5-2C6D-60F5-8D523F86E8DF}"/>
              </a:ext>
            </a:extLst>
          </p:cNvPr>
          <p:cNvSpPr/>
          <p:nvPr/>
        </p:nvSpPr>
        <p:spPr>
          <a:xfrm>
            <a:off x="10070402" y="1402348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applications.manage</a:t>
            </a:r>
            <a:endParaRPr lang="en-MY" sz="1200" dirty="0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444155F4-68C8-A695-1814-0218D7356A8B}"/>
              </a:ext>
            </a:extLst>
          </p:cNvPr>
          <p:cNvSpPr/>
          <p:nvPr/>
        </p:nvSpPr>
        <p:spPr>
          <a:xfrm>
            <a:off x="7932843" y="1392023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Contract 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4919" y="1285281"/>
            <a:ext cx="7207841" cy="158508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26832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5798210" y="332841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5798210" y="375855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949EE431-4002-04F1-838D-9C589BA74990}"/>
              </a:ext>
            </a:extLst>
          </p:cNvPr>
          <p:cNvSpPr/>
          <p:nvPr/>
        </p:nvSpPr>
        <p:spPr>
          <a:xfrm>
            <a:off x="494919" y="3030688"/>
            <a:ext cx="7216217" cy="283721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8E4B5770-11F1-8EDB-32CE-3275A1FE746E}"/>
              </a:ext>
            </a:extLst>
          </p:cNvPr>
          <p:cNvSpPr/>
          <p:nvPr/>
        </p:nvSpPr>
        <p:spPr>
          <a:xfrm>
            <a:off x="7932843" y="1392023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 sz="12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113940EA-B916-423D-8916-36B423B7A9DF}"/>
              </a:ext>
            </a:extLst>
          </p:cNvPr>
          <p:cNvSpPr/>
          <p:nvPr/>
        </p:nvSpPr>
        <p:spPr>
          <a:xfrm>
            <a:off x="9967988" y="3831858"/>
            <a:ext cx="2320902" cy="293976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applications.contract.manage</a:t>
            </a:r>
            <a:endParaRPr lang="en-MY" sz="1200" dirty="0" err="1"/>
          </a:p>
        </p:txBody>
      </p:sp>
      <p:sp>
        <p:nvSpPr>
          <p:cNvPr id="23" name="Shape 20"/>
          <p:cNvSpPr/>
          <p:nvPr/>
        </p:nvSpPr>
        <p:spPr>
          <a:xfrm>
            <a:off x="3409319" y="4091553"/>
            <a:ext cx="484451" cy="310889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E81F068F-D6EE-1CB3-07B9-B335E39897D1}"/>
              </a:ext>
            </a:extLst>
          </p:cNvPr>
          <p:cNvSpPr/>
          <p:nvPr/>
        </p:nvSpPr>
        <p:spPr>
          <a:xfrm>
            <a:off x="7990828" y="1847088"/>
            <a:ext cx="1540732" cy="11835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00B18892-7FBA-8731-9520-FF1F28391C0C}"/>
              </a:ext>
            </a:extLst>
          </p:cNvPr>
          <p:cNvSpPr/>
          <p:nvPr/>
        </p:nvSpPr>
        <p:spPr>
          <a:xfrm>
            <a:off x="7990828" y="3166750"/>
            <a:ext cx="1540732" cy="11835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8FC88EB4-1572-DEFA-B0B0-2A1C24E4ACD1}"/>
              </a:ext>
            </a:extLst>
          </p:cNvPr>
          <p:cNvSpPr/>
          <p:nvPr/>
        </p:nvSpPr>
        <p:spPr>
          <a:xfrm>
            <a:off x="7990828" y="4510635"/>
            <a:ext cx="1540732" cy="11835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A9AAE779-8CAC-2682-69D3-A1EA6466D603}"/>
              </a:ext>
            </a:extLst>
          </p:cNvPr>
          <p:cNvSpPr/>
          <p:nvPr/>
        </p:nvSpPr>
        <p:spPr>
          <a:xfrm>
            <a:off x="10070402" y="946504"/>
            <a:ext cx="1365885" cy="30451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3CA94AE6-369B-7ADA-1093-EA39EE7CDDBD}"/>
              </a:ext>
            </a:extLst>
          </p:cNvPr>
          <p:cNvSpPr/>
          <p:nvPr/>
        </p:nvSpPr>
        <p:spPr>
          <a:xfrm>
            <a:off x="10070402" y="1402348"/>
            <a:ext cx="1716779" cy="267949"/>
          </a:xfrm>
          <a:prstGeom prst="rect">
            <a:avLst/>
          </a:prstGeom>
          <a:solidFill>
            <a:srgbClr val="F97316">
              <a:alpha val="2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applications.manage</a:t>
            </a:r>
            <a:endParaRPr lang="en-MY" sz="1200" dirty="0"/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866F34C2-2A90-6E1E-78E6-AC12E4EA141E}"/>
              </a:ext>
            </a:extLst>
          </p:cNvPr>
          <p:cNvSpPr/>
          <p:nvPr/>
        </p:nvSpPr>
        <p:spPr>
          <a:xfrm>
            <a:off x="1969088" y="4402442"/>
            <a:ext cx="749889" cy="211947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2" name="Shape 20">
            <a:extLst>
              <a:ext uri="{FF2B5EF4-FFF2-40B4-BE49-F238E27FC236}">
                <a16:creationId xmlns:a16="http://schemas.microsoft.com/office/drawing/2014/main" id="{377165AE-C9D7-2677-67AC-D05E0D59FF54}"/>
              </a:ext>
            </a:extLst>
          </p:cNvPr>
          <p:cNvSpPr/>
          <p:nvPr/>
        </p:nvSpPr>
        <p:spPr>
          <a:xfrm>
            <a:off x="7353789" y="3419200"/>
            <a:ext cx="484451" cy="310889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Contract 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732663" y="1092707"/>
            <a:ext cx="6211062" cy="480547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5798210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7965338" y="1371388"/>
            <a:ext cx="1566222" cy="138392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7327087" y="10702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05E4FE1D-C7DF-76FF-8CD8-C753AB467570}"/>
              </a:ext>
            </a:extLst>
          </p:cNvPr>
          <p:cNvSpPr/>
          <p:nvPr/>
        </p:nvSpPr>
        <p:spPr>
          <a:xfrm>
            <a:off x="1969087" y="4680631"/>
            <a:ext cx="1379675" cy="310889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61EC145-B051-7684-B4EE-403CA88DAA92}"/>
              </a:ext>
            </a:extLst>
          </p:cNvPr>
          <p:cNvSpPr/>
          <p:nvPr/>
        </p:nvSpPr>
        <p:spPr>
          <a:xfrm>
            <a:off x="1921651" y="1019857"/>
            <a:ext cx="2032675" cy="560662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26F022B0-5CB0-98CE-F5E7-4A2005F603A9}"/>
              </a:ext>
            </a:extLst>
          </p:cNvPr>
          <p:cNvSpPr/>
          <p:nvPr/>
        </p:nvSpPr>
        <p:spPr>
          <a:xfrm>
            <a:off x="10052965" y="1371388"/>
            <a:ext cx="2302584" cy="293976"/>
          </a:xfrm>
          <a:prstGeom prst="rect">
            <a:avLst/>
          </a:prstGeom>
          <a:solidFill>
            <a:srgbClr val="00A651">
              <a:alpha val="22000"/>
            </a:srgbClr>
          </a:solidFill>
          <a:ln w="27940">
            <a:solidFill>
              <a:srgbClr val="00A651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applications.contract.manage</a:t>
            </a:r>
            <a:endParaRPr lang="en-MY" sz="1200" dirty="0" err="1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122297A3-4744-2E5D-1C39-FDEF1A04F885}"/>
              </a:ext>
            </a:extLst>
          </p:cNvPr>
          <p:cNvSpPr/>
          <p:nvPr/>
        </p:nvSpPr>
        <p:spPr>
          <a:xfrm>
            <a:off x="10070402" y="946504"/>
            <a:ext cx="1365885" cy="30451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Application Review/Application Review Invoice 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0323" y="829229"/>
            <a:ext cx="7002993" cy="529725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924916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5197131" y="1368459"/>
            <a:ext cx="1968400" cy="2682221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5033772" y="8551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5511546" y="451128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587ADB62-3EED-ACBD-08B8-C7F069983833}"/>
              </a:ext>
            </a:extLst>
          </p:cNvPr>
          <p:cNvSpPr/>
          <p:nvPr/>
        </p:nvSpPr>
        <p:spPr>
          <a:xfrm>
            <a:off x="7927908" y="1371601"/>
            <a:ext cx="1673352" cy="137160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6E6DF8E7-87E7-6EA0-E16F-5A75E813DA70}"/>
              </a:ext>
            </a:extLst>
          </p:cNvPr>
          <p:cNvSpPr/>
          <p:nvPr/>
        </p:nvSpPr>
        <p:spPr>
          <a:xfrm>
            <a:off x="10070402" y="946504"/>
            <a:ext cx="1365885" cy="30451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applications.view</a:t>
            </a:r>
            <a:endParaRPr lang="en-MY" sz="12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8F120050-88E5-7E50-92D0-A0FA1585E643}"/>
              </a:ext>
            </a:extLst>
          </p:cNvPr>
          <p:cNvSpPr/>
          <p:nvPr/>
        </p:nvSpPr>
        <p:spPr>
          <a:xfrm>
            <a:off x="9972283" y="1714020"/>
            <a:ext cx="2223390" cy="315540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applications.invoice.manage</a:t>
            </a:r>
          </a:p>
          <a:p>
            <a:endParaRPr lang="en-US" sz="1200" dirty="0"/>
          </a:p>
        </p:txBody>
      </p:sp>
      <p:sp>
        <p:nvSpPr>
          <p:cNvPr id="2" name="Shape 13">
            <a:extLst>
              <a:ext uri="{FF2B5EF4-FFF2-40B4-BE49-F238E27FC236}">
                <a16:creationId xmlns:a16="http://schemas.microsoft.com/office/drawing/2014/main" id="{4C6B9C03-5C5E-79B6-6D7A-DF21F5EA13E6}"/>
              </a:ext>
            </a:extLst>
          </p:cNvPr>
          <p:cNvSpPr/>
          <p:nvPr/>
        </p:nvSpPr>
        <p:spPr>
          <a:xfrm>
            <a:off x="7267977" y="884365"/>
            <a:ext cx="390612" cy="5102692"/>
          </a:xfrm>
          <a:prstGeom prst="rect">
            <a:avLst/>
          </a:prstGeom>
          <a:solidFill>
            <a:srgbClr val="0099A8">
              <a:alpha val="22000"/>
            </a:srgbClr>
          </a:solidFill>
          <a:ln w="27940">
            <a:solidFill>
              <a:srgbClr val="0099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1402690" y="1197498"/>
            <a:ext cx="8183371" cy="109758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1020470" y="12315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1020470" y="209178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1484986" y="2505822"/>
            <a:ext cx="6987844" cy="362065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1020470" y="241438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8664854" y="2529960"/>
            <a:ext cx="668884" cy="3495935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9"/>
          <p:cNvSpPr/>
          <p:nvPr/>
        </p:nvSpPr>
        <p:spPr>
          <a:xfrm>
            <a:off x="8664854" y="2521915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7" name="Text 34"/>
          <p:cNvSpPr/>
          <p:nvPr/>
        </p:nvSpPr>
        <p:spPr>
          <a:xfrm>
            <a:off x="320040" y="6126480"/>
            <a:ext cx="11430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97945C92-7AAE-0434-D2BA-7DC39477B4E6}"/>
              </a:ext>
            </a:extLst>
          </p:cNvPr>
          <p:cNvSpPr/>
          <p:nvPr/>
        </p:nvSpPr>
        <p:spPr>
          <a:xfrm>
            <a:off x="9966866" y="1570797"/>
            <a:ext cx="1424586" cy="30077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0D80F129-C3A4-9DCE-6F9E-98255E0D5C20}"/>
              </a:ext>
            </a:extLst>
          </p:cNvPr>
          <p:cNvSpPr/>
          <p:nvPr/>
        </p:nvSpPr>
        <p:spPr>
          <a:xfrm>
            <a:off x="9966866" y="2099679"/>
            <a:ext cx="1586569" cy="300773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onboarding.manage</a:t>
            </a:r>
            <a:endParaRPr lang="en-MY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S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3067812" y="1152143"/>
            <a:ext cx="3914328" cy="460675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3027121" y="117774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4460443" y="16616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5770778" y="1753088"/>
            <a:ext cx="955548" cy="377464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5798210" y="18229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2D47CDC8-AE89-FB44-1778-738AE2CC7011}"/>
              </a:ext>
            </a:extLst>
          </p:cNvPr>
          <p:cNvSpPr/>
          <p:nvPr/>
        </p:nvSpPr>
        <p:spPr>
          <a:xfrm>
            <a:off x="10276656" y="1867770"/>
            <a:ext cx="1773083" cy="399878"/>
          </a:xfrm>
          <a:prstGeom prst="rect">
            <a:avLst/>
          </a:prstGeom>
          <a:solidFill>
            <a:srgbClr val="7B61FF">
              <a:alpha val="22000"/>
            </a:srgbClr>
          </a:solidFill>
          <a:ln w="27940">
            <a:solidFill>
              <a:srgbClr val="7B61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onboarding.manage</a:t>
            </a:r>
            <a:endParaRPr lang="en-MY" sz="1200" dirty="0" err="1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36F3DF61-BCF7-BE3A-A1CD-0699B80A92EA}"/>
              </a:ext>
            </a:extLst>
          </p:cNvPr>
          <p:cNvSpPr/>
          <p:nvPr/>
        </p:nvSpPr>
        <p:spPr>
          <a:xfrm>
            <a:off x="10276656" y="1424033"/>
            <a:ext cx="1306332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SSM 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3263984" y="1223237"/>
            <a:ext cx="3557897" cy="446299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4460443" y="90891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4433011" y="4699468"/>
            <a:ext cx="2293315" cy="564550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4460443" y="488765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4460443" y="526401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9CA874E5-E259-8DC7-94C5-CE78BEB210CD}"/>
              </a:ext>
            </a:extLst>
          </p:cNvPr>
          <p:cNvSpPr/>
          <p:nvPr/>
        </p:nvSpPr>
        <p:spPr>
          <a:xfrm>
            <a:off x="10102089" y="2169820"/>
            <a:ext cx="1510589" cy="256702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onboarding.manage</a:t>
            </a:r>
            <a:endParaRPr lang="en-MY" sz="12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B22B6461-CA98-4E8A-CAF6-0EFB70808A80}"/>
              </a:ext>
            </a:extLst>
          </p:cNvPr>
          <p:cNvSpPr/>
          <p:nvPr/>
        </p:nvSpPr>
        <p:spPr>
          <a:xfrm>
            <a:off x="10102089" y="1748284"/>
            <a:ext cx="1306332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3040217" y="1153764"/>
            <a:ext cx="3881367" cy="450824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4460443" y="160788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4460443" y="246814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4460443" y="397361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4460443" y="4621012"/>
            <a:ext cx="2265883" cy="356919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9"/>
          <p:cNvSpPr/>
          <p:nvPr/>
        </p:nvSpPr>
        <p:spPr>
          <a:xfrm>
            <a:off x="4460443" y="467258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D9CDD965-1AF9-4EB8-8702-CBDA8E3CCEA4}"/>
              </a:ext>
            </a:extLst>
          </p:cNvPr>
          <p:cNvSpPr/>
          <p:nvPr/>
        </p:nvSpPr>
        <p:spPr>
          <a:xfrm>
            <a:off x="10081076" y="4692591"/>
            <a:ext cx="1624455" cy="283336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onboarding.manage</a:t>
            </a:r>
            <a:endParaRPr lang="en-MY" sz="12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F4069567-A634-1D51-850C-B3FFAED24E81}"/>
              </a:ext>
            </a:extLst>
          </p:cNvPr>
          <p:cNvSpPr/>
          <p:nvPr/>
        </p:nvSpPr>
        <p:spPr>
          <a:xfrm>
            <a:off x="10004861" y="3671867"/>
            <a:ext cx="1306332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A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594360"/>
            <a:ext cx="9555480" cy="5376672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4460443" y="160788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4460443" y="3973617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4460443" y="504895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4D509A96-48BA-9611-CBF9-28AB7C7E19B1}"/>
              </a:ext>
            </a:extLst>
          </p:cNvPr>
          <p:cNvSpPr/>
          <p:nvPr/>
        </p:nvSpPr>
        <p:spPr>
          <a:xfrm>
            <a:off x="3040217" y="1153764"/>
            <a:ext cx="3869256" cy="450824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0"/>
          <p:cNvSpPr/>
          <p:nvPr/>
        </p:nvSpPr>
        <p:spPr>
          <a:xfrm>
            <a:off x="4433011" y="5094671"/>
            <a:ext cx="2293315" cy="208099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E844D6F0-6DCB-E82B-7035-47607028D831}"/>
              </a:ext>
            </a:extLst>
          </p:cNvPr>
          <p:cNvSpPr/>
          <p:nvPr/>
        </p:nvSpPr>
        <p:spPr>
          <a:xfrm>
            <a:off x="10081076" y="4692591"/>
            <a:ext cx="1624455" cy="283336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onboarding.manage</a:t>
            </a:r>
            <a:endParaRPr lang="en-MY" sz="12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C5F6CC61-3113-CE9C-81D6-3B3F734AA8A9}"/>
              </a:ext>
            </a:extLst>
          </p:cNvPr>
          <p:cNvSpPr/>
          <p:nvPr/>
        </p:nvSpPr>
        <p:spPr>
          <a:xfrm>
            <a:off x="10004861" y="3671867"/>
            <a:ext cx="1306332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images26_extract/Onboarding Approval/Onboarding Review Final 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94360"/>
            <a:ext cx="9555480" cy="53766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2048" y="1146106"/>
            <a:ext cx="3929813" cy="46370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4460443" y="1607881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16" name="Shape 13"/>
          <p:cNvSpPr/>
          <p:nvPr/>
        </p:nvSpPr>
        <p:spPr>
          <a:xfrm>
            <a:off x="4460443" y="3973617"/>
            <a:ext cx="2293315" cy="190374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4460443" y="3704783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4460443" y="440375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13FD83C8-83C7-FF8F-4ABC-CBC5122B48EE}"/>
              </a:ext>
            </a:extLst>
          </p:cNvPr>
          <p:cNvSpPr/>
          <p:nvPr/>
        </p:nvSpPr>
        <p:spPr>
          <a:xfrm>
            <a:off x="4460443" y="3429000"/>
            <a:ext cx="2293315" cy="190374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F35A95E4-C59D-73A0-1EF6-6EEFE0368712}"/>
              </a:ext>
            </a:extLst>
          </p:cNvPr>
          <p:cNvSpPr/>
          <p:nvPr/>
        </p:nvSpPr>
        <p:spPr>
          <a:xfrm>
            <a:off x="10081076" y="4211854"/>
            <a:ext cx="1624455" cy="283336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onboarding.manage</a:t>
            </a:r>
            <a:endParaRPr lang="en-MY" sz="12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60C8394E-B1F7-65FC-37A1-9DD32FFC722B}"/>
              </a:ext>
            </a:extLst>
          </p:cNvPr>
          <p:cNvSpPr/>
          <p:nvPr/>
        </p:nvSpPr>
        <p:spPr>
          <a:xfrm>
            <a:off x="10081076" y="3704783"/>
            <a:ext cx="1306332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onboarding.view</a:t>
            </a:r>
            <a:endParaRPr lang="en-MY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sers.png">
            <a:extLst>
              <a:ext uri="{FF2B5EF4-FFF2-40B4-BE49-F238E27FC236}">
                <a16:creationId xmlns:a16="http://schemas.microsoft.com/office/drawing/2014/main" id="{26A090D9-5687-286A-1BD3-1A15AF1C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7" y="704917"/>
            <a:ext cx="9555480" cy="5076582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E38C0FF7-19E2-371F-9EB4-98C57A6ECB2B}"/>
              </a:ext>
            </a:extLst>
          </p:cNvPr>
          <p:cNvSpPr/>
          <p:nvPr/>
        </p:nvSpPr>
        <p:spPr>
          <a:xfrm>
            <a:off x="1718494" y="704917"/>
            <a:ext cx="8423033" cy="517218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0A2F82E-B3CE-7745-33B0-A3EC10275162}"/>
              </a:ext>
            </a:extLst>
          </p:cNvPr>
          <p:cNvSpPr/>
          <p:nvPr/>
        </p:nvSpPr>
        <p:spPr>
          <a:xfrm>
            <a:off x="10390910" y="1137181"/>
            <a:ext cx="997526" cy="25935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users.view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3680093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DC018-DB1D-46ED-CFDE-FC2D65604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64" y="770973"/>
            <a:ext cx="8671563" cy="4837891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78BC5A97-4BE3-537B-831D-A7FBE8CEB003}"/>
              </a:ext>
            </a:extLst>
          </p:cNvPr>
          <p:cNvSpPr/>
          <p:nvPr/>
        </p:nvSpPr>
        <p:spPr>
          <a:xfrm>
            <a:off x="1514207" y="770973"/>
            <a:ext cx="7879176" cy="473205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D48C9F61-25A2-05E7-7BB3-9FEAEFA63DCD}"/>
              </a:ext>
            </a:extLst>
          </p:cNvPr>
          <p:cNvSpPr/>
          <p:nvPr/>
        </p:nvSpPr>
        <p:spPr>
          <a:xfrm>
            <a:off x="1725556" y="2439784"/>
            <a:ext cx="7335317" cy="1192877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42018C13-A846-1AE8-00B9-9A55062403CE}"/>
              </a:ext>
            </a:extLst>
          </p:cNvPr>
          <p:cNvSpPr/>
          <p:nvPr/>
        </p:nvSpPr>
        <p:spPr>
          <a:xfrm>
            <a:off x="9908771" y="2439784"/>
            <a:ext cx="1128481" cy="349134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users.manage</a:t>
            </a:r>
            <a:endParaRPr lang="en-MY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4168EAA-6015-83C2-6849-61DCDF6D1FB1}"/>
              </a:ext>
            </a:extLst>
          </p:cNvPr>
          <p:cNvSpPr/>
          <p:nvPr/>
        </p:nvSpPr>
        <p:spPr>
          <a:xfrm>
            <a:off x="9908771" y="1878676"/>
            <a:ext cx="997526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users.view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993941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994E2-01EE-23A4-816B-BE519257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27" y="555171"/>
            <a:ext cx="9585974" cy="5464305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D3D715B7-22D0-62E2-7A17-B56D339DB0C6}"/>
              </a:ext>
            </a:extLst>
          </p:cNvPr>
          <p:cNvSpPr/>
          <p:nvPr/>
        </p:nvSpPr>
        <p:spPr>
          <a:xfrm>
            <a:off x="1406142" y="995417"/>
            <a:ext cx="7879176" cy="473205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8D32A06-9DC5-7427-6F0A-0D42934337D2}"/>
              </a:ext>
            </a:extLst>
          </p:cNvPr>
          <p:cNvSpPr/>
          <p:nvPr/>
        </p:nvSpPr>
        <p:spPr>
          <a:xfrm>
            <a:off x="9908771" y="1878676"/>
            <a:ext cx="1463040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organizations.view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1594203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41BDA-44F6-3611-5F44-EF1F3AEC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64030"/>
            <a:ext cx="7813964" cy="446294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93435EB5-D0B4-92F4-6577-D7E39A3B8864}"/>
              </a:ext>
            </a:extLst>
          </p:cNvPr>
          <p:cNvSpPr/>
          <p:nvPr/>
        </p:nvSpPr>
        <p:spPr>
          <a:xfrm>
            <a:off x="1514207" y="999574"/>
            <a:ext cx="6848397" cy="473205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9FFCE6A3-40B6-DFE8-EF95-E5BF5F2228C4}"/>
              </a:ext>
            </a:extLst>
          </p:cNvPr>
          <p:cNvSpPr/>
          <p:nvPr/>
        </p:nvSpPr>
        <p:spPr>
          <a:xfrm>
            <a:off x="6694716" y="1616528"/>
            <a:ext cx="1589314" cy="549729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19834FD6-752C-0CB7-0AE6-FEA9F6C590EE}"/>
              </a:ext>
            </a:extLst>
          </p:cNvPr>
          <p:cNvSpPr/>
          <p:nvPr/>
        </p:nvSpPr>
        <p:spPr>
          <a:xfrm>
            <a:off x="9908771" y="2439784"/>
            <a:ext cx="1978429" cy="349134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organizations.manage</a:t>
            </a:r>
            <a:endParaRPr lang="en-MY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C4D6670-71B3-B326-4B5A-2BCAD8DB9B7C}"/>
              </a:ext>
            </a:extLst>
          </p:cNvPr>
          <p:cNvSpPr/>
          <p:nvPr/>
        </p:nvSpPr>
        <p:spPr>
          <a:xfrm>
            <a:off x="9908770" y="1878676"/>
            <a:ext cx="1921279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organizations.view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2020592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C73A6-FE6C-6CB8-2608-8F15B3F49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73" y="1164772"/>
            <a:ext cx="8005384" cy="4528456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B31624FE-2FE6-E4E9-CB60-847E236AAB5F}"/>
              </a:ext>
            </a:extLst>
          </p:cNvPr>
          <p:cNvSpPr/>
          <p:nvPr/>
        </p:nvSpPr>
        <p:spPr>
          <a:xfrm>
            <a:off x="1514207" y="999574"/>
            <a:ext cx="6848397" cy="473205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5EEFA95E-AB97-E7A6-8E0B-DC74957DB875}"/>
              </a:ext>
            </a:extLst>
          </p:cNvPr>
          <p:cNvSpPr/>
          <p:nvPr/>
        </p:nvSpPr>
        <p:spPr>
          <a:xfrm>
            <a:off x="5625193" y="4354286"/>
            <a:ext cx="1004207" cy="1504140"/>
          </a:xfrm>
          <a:prstGeom prst="rect">
            <a:avLst/>
          </a:prstGeom>
          <a:solidFill>
            <a:srgbClr val="F4A62A">
              <a:alpha val="22000"/>
            </a:srgbClr>
          </a:solidFill>
          <a:ln w="27940">
            <a:solidFill>
              <a:srgbClr val="F4A62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03907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cument Management.png">
            <a:extLst>
              <a:ext uri="{FF2B5EF4-FFF2-40B4-BE49-F238E27FC236}">
                <a16:creationId xmlns:a16="http://schemas.microsoft.com/office/drawing/2014/main" id="{DF6F98BA-2EBD-8E17-2D49-BA47C2BF5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3" y="732040"/>
            <a:ext cx="9555480" cy="539392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2F487F71-6283-5A0D-A6B5-2523F433D3FB}"/>
              </a:ext>
            </a:extLst>
          </p:cNvPr>
          <p:cNvSpPr/>
          <p:nvPr/>
        </p:nvSpPr>
        <p:spPr>
          <a:xfrm>
            <a:off x="1415971" y="1429789"/>
            <a:ext cx="8284982" cy="210311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76324FD-A443-F2ED-67D6-BD40A697E82C}"/>
              </a:ext>
            </a:extLst>
          </p:cNvPr>
          <p:cNvSpPr/>
          <p:nvPr/>
        </p:nvSpPr>
        <p:spPr>
          <a:xfrm>
            <a:off x="9042220" y="2326821"/>
            <a:ext cx="658734" cy="721179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5F5F5B0-0730-A9B5-773C-80FB85ADDBB2}"/>
              </a:ext>
            </a:extLst>
          </p:cNvPr>
          <p:cNvSpPr/>
          <p:nvPr/>
        </p:nvSpPr>
        <p:spPr>
          <a:xfrm>
            <a:off x="8712852" y="1256768"/>
            <a:ext cx="988101" cy="585146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D45FBDE4-7F24-5197-0C4E-C3A7846F4584}"/>
              </a:ext>
            </a:extLst>
          </p:cNvPr>
          <p:cNvSpPr/>
          <p:nvPr/>
        </p:nvSpPr>
        <p:spPr>
          <a:xfrm>
            <a:off x="10469819" y="1415934"/>
            <a:ext cx="1276066" cy="42949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document_management.view</a:t>
            </a:r>
            <a:endParaRPr lang="en-MY" sz="12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0E4843E-D6C9-5759-7E8F-445F7846BF61}"/>
              </a:ext>
            </a:extLst>
          </p:cNvPr>
          <p:cNvSpPr/>
          <p:nvPr/>
        </p:nvSpPr>
        <p:spPr>
          <a:xfrm>
            <a:off x="10469819" y="2109549"/>
            <a:ext cx="1390799" cy="373629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document_management.manage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723231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tract Listing.png">
            <a:extLst>
              <a:ext uri="{FF2B5EF4-FFF2-40B4-BE49-F238E27FC236}">
                <a16:creationId xmlns:a16="http://schemas.microsoft.com/office/drawing/2014/main" id="{C03B95D3-FDBF-0665-F4EB-771A6231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2085"/>
            <a:ext cx="9555480" cy="5405308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0C369595-4BA2-D68C-1749-08C3DE02C88B}"/>
              </a:ext>
            </a:extLst>
          </p:cNvPr>
          <p:cNvSpPr/>
          <p:nvPr/>
        </p:nvSpPr>
        <p:spPr>
          <a:xfrm>
            <a:off x="1514207" y="1265210"/>
            <a:ext cx="7879176" cy="338843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B828E1C-B397-7D7B-217F-30536635128B}"/>
              </a:ext>
            </a:extLst>
          </p:cNvPr>
          <p:cNvSpPr/>
          <p:nvPr/>
        </p:nvSpPr>
        <p:spPr>
          <a:xfrm>
            <a:off x="9908771" y="1878676"/>
            <a:ext cx="1439586" cy="30935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contracts.view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2056460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vestment Listing.png">
            <a:extLst>
              <a:ext uri="{FF2B5EF4-FFF2-40B4-BE49-F238E27FC236}">
                <a16:creationId xmlns:a16="http://schemas.microsoft.com/office/drawing/2014/main" id="{2EE1E26A-9C23-1587-E3B4-2A7A7DE4A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2085"/>
            <a:ext cx="9555480" cy="5405308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2316AA35-2F66-FF99-42BF-72D8CAA25FCE}"/>
              </a:ext>
            </a:extLst>
          </p:cNvPr>
          <p:cNvSpPr/>
          <p:nvPr/>
        </p:nvSpPr>
        <p:spPr>
          <a:xfrm>
            <a:off x="1514207" y="1265210"/>
            <a:ext cx="7879176" cy="540530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60FF671-2CC5-ECF4-2075-BA47CD2A6F00}"/>
              </a:ext>
            </a:extLst>
          </p:cNvPr>
          <p:cNvSpPr/>
          <p:nvPr/>
        </p:nvSpPr>
        <p:spPr>
          <a:xfrm>
            <a:off x="9908771" y="1878676"/>
            <a:ext cx="1439586" cy="309353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investments.view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1679738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ucket Balances Up.png">
            <a:extLst>
              <a:ext uri="{FF2B5EF4-FFF2-40B4-BE49-F238E27FC236}">
                <a16:creationId xmlns:a16="http://schemas.microsoft.com/office/drawing/2014/main" id="{1B51112A-E0AD-0835-055C-D5A2301E2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2085"/>
            <a:ext cx="9555480" cy="5405308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69D354E1-30CD-C7C0-B7B6-F554F212FF9F}"/>
              </a:ext>
            </a:extLst>
          </p:cNvPr>
          <p:cNvSpPr/>
          <p:nvPr/>
        </p:nvSpPr>
        <p:spPr>
          <a:xfrm>
            <a:off x="607970" y="1693539"/>
            <a:ext cx="9084669" cy="490320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65280CA-77AA-05C0-8837-24B8A8560AB4}"/>
              </a:ext>
            </a:extLst>
          </p:cNvPr>
          <p:cNvSpPr/>
          <p:nvPr/>
        </p:nvSpPr>
        <p:spPr>
          <a:xfrm>
            <a:off x="9908770" y="1878676"/>
            <a:ext cx="1675259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bucket_balances.view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2361813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payments.png">
            <a:extLst>
              <a:ext uri="{FF2B5EF4-FFF2-40B4-BE49-F238E27FC236}">
                <a16:creationId xmlns:a16="http://schemas.microsoft.com/office/drawing/2014/main" id="{A404D686-18AD-28A3-67AD-53B4BB576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2085"/>
            <a:ext cx="9555480" cy="5405308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4B112500-0289-3534-9AA6-FF45A3CFDB1F}"/>
              </a:ext>
            </a:extLst>
          </p:cNvPr>
          <p:cNvSpPr/>
          <p:nvPr/>
        </p:nvSpPr>
        <p:spPr>
          <a:xfrm>
            <a:off x="648793" y="1193863"/>
            <a:ext cx="7879176" cy="473205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84E4286-6B3B-DBE5-411A-6FD4634C968B}"/>
              </a:ext>
            </a:extLst>
          </p:cNvPr>
          <p:cNvSpPr/>
          <p:nvPr/>
        </p:nvSpPr>
        <p:spPr>
          <a:xfrm>
            <a:off x="9908770" y="1878676"/>
            <a:ext cx="1529393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repayments.view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1184395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ssuer Payouts.png">
            <a:extLst>
              <a:ext uri="{FF2B5EF4-FFF2-40B4-BE49-F238E27FC236}">
                <a16:creationId xmlns:a16="http://schemas.microsoft.com/office/drawing/2014/main" id="{D6633424-3542-F06F-0544-FCC75106B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9556"/>
            <a:ext cx="9555480" cy="5390366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F4F79C97-672E-5704-2635-B89B7D75373D}"/>
              </a:ext>
            </a:extLst>
          </p:cNvPr>
          <p:cNvSpPr/>
          <p:nvPr/>
        </p:nvSpPr>
        <p:spPr>
          <a:xfrm>
            <a:off x="1440909" y="1048648"/>
            <a:ext cx="8423033" cy="251914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C1B2B7D-EB18-DA24-6261-25BED19E72DE}"/>
              </a:ext>
            </a:extLst>
          </p:cNvPr>
          <p:cNvSpPr/>
          <p:nvPr/>
        </p:nvSpPr>
        <p:spPr>
          <a:xfrm>
            <a:off x="10174542" y="1584762"/>
            <a:ext cx="1643693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disbursements.view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3862500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oduct List.png">
            <a:extLst>
              <a:ext uri="{FF2B5EF4-FFF2-40B4-BE49-F238E27FC236}">
                <a16:creationId xmlns:a16="http://schemas.microsoft.com/office/drawing/2014/main" id="{393C1B6C-432D-597E-4813-0210FC8A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5821"/>
            <a:ext cx="9555480" cy="5397837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AF1B60DA-E9C9-37C6-75FB-3E060D891618}"/>
              </a:ext>
            </a:extLst>
          </p:cNvPr>
          <p:cNvSpPr/>
          <p:nvPr/>
        </p:nvSpPr>
        <p:spPr>
          <a:xfrm>
            <a:off x="1282967" y="1571106"/>
            <a:ext cx="8284982" cy="2103119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CCB45FA-E7A8-3BA1-A850-D9297E9CEFB1}"/>
              </a:ext>
            </a:extLst>
          </p:cNvPr>
          <p:cNvSpPr/>
          <p:nvPr/>
        </p:nvSpPr>
        <p:spPr>
          <a:xfrm>
            <a:off x="8686800" y="2483178"/>
            <a:ext cx="1390799" cy="1151561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1CB719D-32F8-EBE3-A7D5-92C7C349CEB7}"/>
              </a:ext>
            </a:extLst>
          </p:cNvPr>
          <p:cNvSpPr/>
          <p:nvPr/>
        </p:nvSpPr>
        <p:spPr>
          <a:xfrm>
            <a:off x="8494320" y="1571106"/>
            <a:ext cx="1390799" cy="353956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71E5C20-328E-7A45-9A03-DCA4107D1CA4}"/>
              </a:ext>
            </a:extLst>
          </p:cNvPr>
          <p:cNvSpPr/>
          <p:nvPr/>
        </p:nvSpPr>
        <p:spPr>
          <a:xfrm>
            <a:off x="10469819" y="1415934"/>
            <a:ext cx="1276066" cy="429491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products.view</a:t>
            </a:r>
            <a:endParaRPr lang="en-MY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DEE07F9-EC04-F49D-385F-74DB0E6CA643}"/>
              </a:ext>
            </a:extLst>
          </p:cNvPr>
          <p:cNvSpPr/>
          <p:nvPr/>
        </p:nvSpPr>
        <p:spPr>
          <a:xfrm>
            <a:off x="10469819" y="2109549"/>
            <a:ext cx="1390799" cy="373629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products.manage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3144101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BEA33-3BB3-B3CD-6B97-F7DAB8D36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26" y="805543"/>
            <a:ext cx="7384860" cy="4165892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A5572C47-C048-E11C-36BB-6A0C7E28E0CA}"/>
              </a:ext>
            </a:extLst>
          </p:cNvPr>
          <p:cNvSpPr/>
          <p:nvPr/>
        </p:nvSpPr>
        <p:spPr>
          <a:xfrm>
            <a:off x="1440909" y="1048648"/>
            <a:ext cx="6647177" cy="251914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A1F45BC-760B-ED85-72AD-DFCAFBDB0C96}"/>
              </a:ext>
            </a:extLst>
          </p:cNvPr>
          <p:cNvSpPr/>
          <p:nvPr/>
        </p:nvSpPr>
        <p:spPr>
          <a:xfrm>
            <a:off x="10174542" y="1584762"/>
            <a:ext cx="1643693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en-US" sz="1200" dirty="0" err="1"/>
              <a:t>service_fee.view</a:t>
            </a:r>
            <a:endParaRPr lang="en-MY" sz="1200" dirty="0"/>
          </a:p>
        </p:txBody>
      </p:sp>
    </p:spTree>
    <p:extLst>
      <p:ext uri="{BB962C8B-B14F-4D97-AF65-F5344CB8AC3E}">
        <p14:creationId xmlns:p14="http://schemas.microsoft.com/office/powerpoint/2010/main" val="4018280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min Finance Settings.png">
            <a:extLst>
              <a:ext uri="{FF2B5EF4-FFF2-40B4-BE49-F238E27FC236}">
                <a16:creationId xmlns:a16="http://schemas.microsoft.com/office/drawing/2014/main" id="{D6A50C85-8FCD-00FD-B332-DCC860C1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45160"/>
            <a:ext cx="9555480" cy="5379159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7D7CCA5C-7D52-A0F9-1FD7-019166091819}"/>
              </a:ext>
            </a:extLst>
          </p:cNvPr>
          <p:cNvSpPr/>
          <p:nvPr/>
        </p:nvSpPr>
        <p:spPr>
          <a:xfrm>
            <a:off x="1440909" y="1048648"/>
            <a:ext cx="6647177" cy="251914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A483CC93-5655-9AF3-0088-14F210C3F953}"/>
              </a:ext>
            </a:extLst>
          </p:cNvPr>
          <p:cNvSpPr/>
          <p:nvPr/>
        </p:nvSpPr>
        <p:spPr>
          <a:xfrm>
            <a:off x="10174542" y="1584762"/>
            <a:ext cx="1745909" cy="40732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dirty="0" err="1"/>
              <a:t>platform_settings.view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E9FACFF-79F9-ABED-6F6B-B073C4DFCFA6}"/>
              </a:ext>
            </a:extLst>
          </p:cNvPr>
          <p:cNvSpPr/>
          <p:nvPr/>
        </p:nvSpPr>
        <p:spPr>
          <a:xfrm>
            <a:off x="1593309" y="1201048"/>
            <a:ext cx="6647177" cy="2519145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0E2C3DF-CF39-72CF-23B7-6620CD6F6347}"/>
              </a:ext>
            </a:extLst>
          </p:cNvPr>
          <p:cNvSpPr/>
          <p:nvPr/>
        </p:nvSpPr>
        <p:spPr>
          <a:xfrm>
            <a:off x="10174542" y="2085020"/>
            <a:ext cx="2252713" cy="375600"/>
          </a:xfrm>
          <a:prstGeom prst="rect">
            <a:avLst/>
          </a:prstGeom>
          <a:solidFill>
            <a:schemeClr val="accent2">
              <a:alpha val="22000"/>
            </a:scheme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dirty="0" err="1"/>
              <a:t>platform_settings.manage</a:t>
            </a:r>
            <a:endParaRPr lang="en-MY" sz="1200" dirty="0" err="1"/>
          </a:p>
        </p:txBody>
      </p:sp>
    </p:spTree>
    <p:extLst>
      <p:ext uri="{BB962C8B-B14F-4D97-AF65-F5344CB8AC3E}">
        <p14:creationId xmlns:p14="http://schemas.microsoft.com/office/powerpoint/2010/main" val="4236179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9BEECD-15D1-8B6E-6234-29D608DB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" y="0"/>
            <a:ext cx="10041623" cy="6456948"/>
          </a:xfrm>
          <a:prstGeom prst="rect">
            <a:avLst/>
          </a:prstGeom>
        </p:spPr>
      </p:pic>
      <p:sp>
        <p:nvSpPr>
          <p:cNvPr id="6" name="Shape 6">
            <a:extLst>
              <a:ext uri="{FF2B5EF4-FFF2-40B4-BE49-F238E27FC236}">
                <a16:creationId xmlns:a16="http://schemas.microsoft.com/office/drawing/2014/main" id="{49BC80F5-5C89-FE68-598D-14993B63D23B}"/>
              </a:ext>
            </a:extLst>
          </p:cNvPr>
          <p:cNvSpPr/>
          <p:nvPr/>
        </p:nvSpPr>
        <p:spPr>
          <a:xfrm>
            <a:off x="-7882" y="-2564"/>
            <a:ext cx="10041027" cy="6463424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B93137-AC9F-C26E-5145-52B4B039C353}"/>
              </a:ext>
            </a:extLst>
          </p:cNvPr>
          <p:cNvSpPr/>
          <p:nvPr/>
        </p:nvSpPr>
        <p:spPr>
          <a:xfrm>
            <a:off x="5166247" y="2658397"/>
            <a:ext cx="1411208" cy="3497479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B7E108F-A54F-29EF-4D88-1D9CEAA18074}"/>
              </a:ext>
            </a:extLst>
          </p:cNvPr>
          <p:cNvSpPr/>
          <p:nvPr/>
        </p:nvSpPr>
        <p:spPr>
          <a:xfrm>
            <a:off x="8422793" y="2658396"/>
            <a:ext cx="1162556" cy="3497479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147DE2D-0EE2-F52E-5F41-2B7015DC2E42}"/>
              </a:ext>
            </a:extLst>
          </p:cNvPr>
          <p:cNvSpPr/>
          <p:nvPr/>
        </p:nvSpPr>
        <p:spPr>
          <a:xfrm>
            <a:off x="8952183" y="75618"/>
            <a:ext cx="1082345" cy="40135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2E356FE-5079-C2AF-85F2-E44A5117A479}"/>
              </a:ext>
            </a:extLst>
          </p:cNvPr>
          <p:cNvSpPr/>
          <p:nvPr/>
        </p:nvSpPr>
        <p:spPr>
          <a:xfrm>
            <a:off x="10210937" y="278172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roles.view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0AF6350-9421-251D-37EF-C26483936423}"/>
              </a:ext>
            </a:extLst>
          </p:cNvPr>
          <p:cNvSpPr/>
          <p:nvPr/>
        </p:nvSpPr>
        <p:spPr>
          <a:xfrm>
            <a:off x="10211487" y="789491"/>
            <a:ext cx="1619755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roles.manage</a:t>
            </a:r>
          </a:p>
        </p:txBody>
      </p:sp>
    </p:spTree>
    <p:extLst>
      <p:ext uri="{BB962C8B-B14F-4D97-AF65-F5344CB8AC3E}">
        <p14:creationId xmlns:p14="http://schemas.microsoft.com/office/powerpoint/2010/main" val="2454635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2C5B2B-C5F9-530B-6E2A-9711F64D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" y="0"/>
            <a:ext cx="10251453" cy="5991727"/>
          </a:xfrm>
          <a:prstGeom prst="rect">
            <a:avLst/>
          </a:prstGeom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0E95F2D4-F12F-9C8E-5A40-CEF1EB0A9AA3}"/>
              </a:ext>
            </a:extLst>
          </p:cNvPr>
          <p:cNvSpPr/>
          <p:nvPr/>
        </p:nvSpPr>
        <p:spPr>
          <a:xfrm>
            <a:off x="139" y="-2564"/>
            <a:ext cx="10185406" cy="644738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F6D05A5-AB4B-2DD8-D841-303D34D7B802}"/>
              </a:ext>
            </a:extLst>
          </p:cNvPr>
          <p:cNvSpPr/>
          <p:nvPr/>
        </p:nvSpPr>
        <p:spPr>
          <a:xfrm>
            <a:off x="10339823" y="885744"/>
            <a:ext cx="1619755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roles.manage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291A04-5565-68B8-1281-2D98CF965F53}"/>
              </a:ext>
            </a:extLst>
          </p:cNvPr>
          <p:cNvSpPr/>
          <p:nvPr/>
        </p:nvSpPr>
        <p:spPr>
          <a:xfrm>
            <a:off x="10339274" y="374425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roles.view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870E119-30EA-23C7-37E7-A58F69935970}"/>
              </a:ext>
            </a:extLst>
          </p:cNvPr>
          <p:cNvSpPr/>
          <p:nvPr/>
        </p:nvSpPr>
        <p:spPr>
          <a:xfrm>
            <a:off x="9176769" y="1142417"/>
            <a:ext cx="881819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4B6E233-BF8F-202B-8764-BEA71C131A01}"/>
              </a:ext>
            </a:extLst>
          </p:cNvPr>
          <p:cNvSpPr/>
          <p:nvPr/>
        </p:nvSpPr>
        <p:spPr>
          <a:xfrm>
            <a:off x="2503252" y="1711911"/>
            <a:ext cx="3480640" cy="810427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FC11C60-B2E1-5533-F629-315881D3333A}"/>
              </a:ext>
            </a:extLst>
          </p:cNvPr>
          <p:cNvSpPr/>
          <p:nvPr/>
        </p:nvSpPr>
        <p:spPr>
          <a:xfrm>
            <a:off x="2374915" y="2931111"/>
            <a:ext cx="3993987" cy="2093795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DFD4BD9-CF63-E67C-1049-6F99090C0639}"/>
              </a:ext>
            </a:extLst>
          </p:cNvPr>
          <p:cNvSpPr/>
          <p:nvPr/>
        </p:nvSpPr>
        <p:spPr>
          <a:xfrm>
            <a:off x="1091547" y="1046164"/>
            <a:ext cx="881819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</p:spTree>
    <p:extLst>
      <p:ext uri="{BB962C8B-B14F-4D97-AF65-F5344CB8AC3E}">
        <p14:creationId xmlns:p14="http://schemas.microsoft.com/office/powerpoint/2010/main" val="2149957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447F2C-A81F-130C-8020-3E9F05D9F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" y="0"/>
            <a:ext cx="10448164" cy="6849979"/>
          </a:xfrm>
          <a:prstGeom prst="rect">
            <a:avLst/>
          </a:prstGeom>
        </p:spPr>
      </p:pic>
      <p:sp>
        <p:nvSpPr>
          <p:cNvPr id="6" name="Shape 6">
            <a:extLst>
              <a:ext uri="{FF2B5EF4-FFF2-40B4-BE49-F238E27FC236}">
                <a16:creationId xmlns:a16="http://schemas.microsoft.com/office/drawing/2014/main" id="{6F5DC1DB-AB09-D044-F05B-A4988C7BCCB8}"/>
              </a:ext>
            </a:extLst>
          </p:cNvPr>
          <p:cNvSpPr/>
          <p:nvPr/>
        </p:nvSpPr>
        <p:spPr>
          <a:xfrm>
            <a:off x="139" y="-2564"/>
            <a:ext cx="10329784" cy="685645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820742-0595-5227-9228-4230F290282D}"/>
              </a:ext>
            </a:extLst>
          </p:cNvPr>
          <p:cNvSpPr/>
          <p:nvPr/>
        </p:nvSpPr>
        <p:spPr>
          <a:xfrm>
            <a:off x="10451569" y="342341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notifications.view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46B61A8-671F-DF3A-C7B5-2F4C627E72DB}"/>
              </a:ext>
            </a:extLst>
          </p:cNvPr>
          <p:cNvSpPr/>
          <p:nvPr/>
        </p:nvSpPr>
        <p:spPr>
          <a:xfrm>
            <a:off x="9136661" y="1334921"/>
            <a:ext cx="1122451" cy="5502742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A54F594-98BB-52AC-5C6D-102DAC46DE00}"/>
              </a:ext>
            </a:extLst>
          </p:cNvPr>
          <p:cNvSpPr/>
          <p:nvPr/>
        </p:nvSpPr>
        <p:spPr>
          <a:xfrm>
            <a:off x="10452118" y="1014081"/>
            <a:ext cx="1619755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/>
              <a:t>notifications.manage</a:t>
            </a:r>
          </a:p>
        </p:txBody>
      </p:sp>
    </p:spTree>
    <p:extLst>
      <p:ext uri="{BB962C8B-B14F-4D97-AF65-F5344CB8AC3E}">
        <p14:creationId xmlns:p14="http://schemas.microsoft.com/office/powerpoint/2010/main" val="922638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2E77BD-7F72-3BE7-53D2-D4FAB386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4" y="0"/>
            <a:ext cx="10019802" cy="6368716"/>
          </a:xfrm>
          <a:prstGeom prst="rect">
            <a:avLst/>
          </a:prstGeom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2C44FA65-6051-9837-3F62-1F24565A571B}"/>
              </a:ext>
            </a:extLst>
          </p:cNvPr>
          <p:cNvSpPr/>
          <p:nvPr/>
        </p:nvSpPr>
        <p:spPr>
          <a:xfrm>
            <a:off x="139" y="-2564"/>
            <a:ext cx="10329784" cy="637519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412A48-8B58-6E7E-153C-519FB706788B}"/>
              </a:ext>
            </a:extLst>
          </p:cNvPr>
          <p:cNvSpPr/>
          <p:nvPr/>
        </p:nvSpPr>
        <p:spPr>
          <a:xfrm>
            <a:off x="137041" y="1086269"/>
            <a:ext cx="4884323" cy="5157837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CFFB55-994C-CBA9-FAD9-911345948327}"/>
              </a:ext>
            </a:extLst>
          </p:cNvPr>
          <p:cNvSpPr/>
          <p:nvPr/>
        </p:nvSpPr>
        <p:spPr>
          <a:xfrm>
            <a:off x="5166242" y="1086269"/>
            <a:ext cx="4852239" cy="1420027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 sz="12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1F8FE3F-E0D8-5E3F-5997-908C3A00239E}"/>
              </a:ext>
            </a:extLst>
          </p:cNvPr>
          <p:cNvSpPr/>
          <p:nvPr/>
        </p:nvSpPr>
        <p:spPr>
          <a:xfrm>
            <a:off x="10451569" y="342341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notifications.view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AA81D64-B883-DC90-B03E-1A1480476F57}"/>
              </a:ext>
            </a:extLst>
          </p:cNvPr>
          <p:cNvSpPr/>
          <p:nvPr/>
        </p:nvSpPr>
        <p:spPr>
          <a:xfrm>
            <a:off x="10452118" y="1014081"/>
            <a:ext cx="1619755" cy="321143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/>
              <a:t>notifications.manage</a:t>
            </a:r>
          </a:p>
        </p:txBody>
      </p:sp>
    </p:spTree>
    <p:extLst>
      <p:ext uri="{BB962C8B-B14F-4D97-AF65-F5344CB8AC3E}">
        <p14:creationId xmlns:p14="http://schemas.microsoft.com/office/powerpoint/2010/main" val="2952182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2DAC0B-AA73-785C-C620-52927697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" y="0"/>
            <a:ext cx="10567961" cy="6858000"/>
          </a:xfrm>
          <a:prstGeom prst="rect">
            <a:avLst/>
          </a:prstGeom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5FC5E68B-758F-37DE-2AAD-D1306A5FE173}"/>
              </a:ext>
            </a:extLst>
          </p:cNvPr>
          <p:cNvSpPr/>
          <p:nvPr/>
        </p:nvSpPr>
        <p:spPr>
          <a:xfrm>
            <a:off x="139" y="-2564"/>
            <a:ext cx="10570415" cy="686447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2BC8A1-084D-1B3D-012B-C3EF8CA47F80}"/>
              </a:ext>
            </a:extLst>
          </p:cNvPr>
          <p:cNvSpPr/>
          <p:nvPr/>
        </p:nvSpPr>
        <p:spPr>
          <a:xfrm>
            <a:off x="10571885" y="398489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audit.access.view</a:t>
            </a:r>
          </a:p>
        </p:txBody>
      </p:sp>
    </p:spTree>
    <p:extLst>
      <p:ext uri="{BB962C8B-B14F-4D97-AF65-F5344CB8AC3E}">
        <p14:creationId xmlns:p14="http://schemas.microsoft.com/office/powerpoint/2010/main" val="74270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F010FF-25EE-7F40-5A1E-A8150A585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1" y="0"/>
            <a:ext cx="10624437" cy="6858000"/>
          </a:xfrm>
          <a:prstGeom prst="rect">
            <a:avLst/>
          </a:prstGeom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5D3F8F91-2E1B-BC80-CE97-BDDF790F0DE6}"/>
              </a:ext>
            </a:extLst>
          </p:cNvPr>
          <p:cNvSpPr/>
          <p:nvPr/>
        </p:nvSpPr>
        <p:spPr>
          <a:xfrm>
            <a:off x="139" y="-2564"/>
            <a:ext cx="10618541" cy="686447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9A9BADF-0206-9AEB-5045-A2D8518FFBF8}"/>
              </a:ext>
            </a:extLst>
          </p:cNvPr>
          <p:cNvSpPr/>
          <p:nvPr/>
        </p:nvSpPr>
        <p:spPr>
          <a:xfrm>
            <a:off x="10571885" y="398489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audit.security.view</a:t>
            </a:r>
          </a:p>
        </p:txBody>
      </p:sp>
    </p:spTree>
    <p:extLst>
      <p:ext uri="{BB962C8B-B14F-4D97-AF65-F5344CB8AC3E}">
        <p14:creationId xmlns:p14="http://schemas.microsoft.com/office/powerpoint/2010/main" val="11677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E261D5-9845-F521-B5F1-08D0EFE3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" y="0"/>
            <a:ext cx="10596984" cy="6858000"/>
          </a:xfrm>
          <a:prstGeom prst="rect">
            <a:avLst/>
          </a:prstGeom>
        </p:spPr>
      </p:pic>
      <p:sp>
        <p:nvSpPr>
          <p:cNvPr id="4" name="Shape 6">
            <a:extLst>
              <a:ext uri="{FF2B5EF4-FFF2-40B4-BE49-F238E27FC236}">
                <a16:creationId xmlns:a16="http://schemas.microsoft.com/office/drawing/2014/main" id="{42BFC220-C09A-781F-93EC-527563ED07CC}"/>
              </a:ext>
            </a:extLst>
          </p:cNvPr>
          <p:cNvSpPr/>
          <p:nvPr/>
        </p:nvSpPr>
        <p:spPr>
          <a:xfrm>
            <a:off x="139" y="-2564"/>
            <a:ext cx="10602499" cy="686447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80A1E40-8498-1E9E-FAC5-CB659176D09C}"/>
              </a:ext>
            </a:extLst>
          </p:cNvPr>
          <p:cNvSpPr/>
          <p:nvPr/>
        </p:nvSpPr>
        <p:spPr>
          <a:xfrm>
            <a:off x="10571885" y="398489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/>
              <a:t>audit.document.view</a:t>
            </a:r>
          </a:p>
        </p:txBody>
      </p:sp>
    </p:spTree>
    <p:extLst>
      <p:ext uri="{BB962C8B-B14F-4D97-AF65-F5344CB8AC3E}">
        <p14:creationId xmlns:p14="http://schemas.microsoft.com/office/powerpoint/2010/main" val="2742279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166D66-8DA8-8576-2FDB-ED216E99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4" y="0"/>
            <a:ext cx="10544891" cy="685800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52972687-7022-3113-B5B2-802BF7BB88CA}"/>
              </a:ext>
            </a:extLst>
          </p:cNvPr>
          <p:cNvSpPr/>
          <p:nvPr/>
        </p:nvSpPr>
        <p:spPr>
          <a:xfrm>
            <a:off x="139" y="-2564"/>
            <a:ext cx="10546352" cy="6864476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EE7BB70-B23C-30E8-8014-E71149483169}"/>
              </a:ext>
            </a:extLst>
          </p:cNvPr>
          <p:cNvSpPr/>
          <p:nvPr/>
        </p:nvSpPr>
        <p:spPr>
          <a:xfrm>
            <a:off x="10571885" y="398489"/>
            <a:ext cx="1618923" cy="327320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audit.product.view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0252251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D548CD-C122-2B11-A513-91CBE065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4" b="-421"/>
          <a:stretch>
            <a:fillRect/>
          </a:stretch>
        </p:blipFill>
        <p:spPr>
          <a:xfrm>
            <a:off x="0" y="669"/>
            <a:ext cx="10323104" cy="5701696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1D3A989B-5AA5-15EC-AE89-706B65BBA551}"/>
              </a:ext>
            </a:extLst>
          </p:cNvPr>
          <p:cNvSpPr/>
          <p:nvPr/>
        </p:nvSpPr>
        <p:spPr>
          <a:xfrm>
            <a:off x="166553" y="969643"/>
            <a:ext cx="1603710" cy="1789548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3764279-124C-3A2E-9968-6E80032C2AD8}"/>
              </a:ext>
            </a:extLst>
          </p:cNvPr>
          <p:cNvSpPr/>
          <p:nvPr/>
        </p:nvSpPr>
        <p:spPr>
          <a:xfrm>
            <a:off x="10466087" y="600636"/>
            <a:ext cx="1587069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/>
              <a:t>onboarding.view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5C78875E-0ABA-89AC-3F4B-62E51268138F}"/>
              </a:ext>
            </a:extLst>
          </p:cNvPr>
          <p:cNvSpPr/>
          <p:nvPr/>
        </p:nvSpPr>
        <p:spPr>
          <a:xfrm>
            <a:off x="1875035" y="969642"/>
            <a:ext cx="1499437" cy="1789548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2B22CD6-37AD-BF7B-0C37-F0F47B9E6DC4}"/>
              </a:ext>
            </a:extLst>
          </p:cNvPr>
          <p:cNvSpPr/>
          <p:nvPr/>
        </p:nvSpPr>
        <p:spPr>
          <a:xfrm>
            <a:off x="3495289" y="969642"/>
            <a:ext cx="1603710" cy="1789548"/>
          </a:xfrm>
          <a:prstGeom prst="rect">
            <a:avLst/>
          </a:prstGeom>
          <a:solidFill>
            <a:srgbClr val="70AD47">
              <a:alpha val="50000"/>
            </a:srgbClr>
          </a:solidFill>
          <a:ln w="27940">
            <a:solidFill>
              <a:schemeClr val="accent6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A5146EC-8B1D-E863-AA5B-9E5A1D530A99}"/>
              </a:ext>
            </a:extLst>
          </p:cNvPr>
          <p:cNvSpPr/>
          <p:nvPr/>
        </p:nvSpPr>
        <p:spPr>
          <a:xfrm>
            <a:off x="5163667" y="969641"/>
            <a:ext cx="1603710" cy="1789548"/>
          </a:xfrm>
          <a:prstGeom prst="rect">
            <a:avLst/>
          </a:prstGeom>
          <a:solidFill>
            <a:srgbClr val="FFC000">
              <a:alpha val="40000"/>
            </a:srgbClr>
          </a:solidFill>
          <a:ln w="27940">
            <a:solidFill>
              <a:schemeClr val="accent4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B3FC4B-288A-461B-AA4A-C9B24957981F}"/>
              </a:ext>
            </a:extLst>
          </p:cNvPr>
          <p:cNvSpPr/>
          <p:nvPr/>
        </p:nvSpPr>
        <p:spPr>
          <a:xfrm>
            <a:off x="6848088" y="969641"/>
            <a:ext cx="1603710" cy="1789548"/>
          </a:xfrm>
          <a:prstGeom prst="rect">
            <a:avLst/>
          </a:prstGeom>
          <a:solidFill>
            <a:srgbClr val="A5A5A5">
              <a:alpha val="40000"/>
            </a:srgbClr>
          </a:solidFill>
          <a:ln w="27940">
            <a:solidFill>
              <a:schemeClr val="accent3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D190624-35BE-F556-8C6C-5C47B750F816}"/>
              </a:ext>
            </a:extLst>
          </p:cNvPr>
          <p:cNvSpPr/>
          <p:nvPr/>
        </p:nvSpPr>
        <p:spPr>
          <a:xfrm>
            <a:off x="8524488" y="969641"/>
            <a:ext cx="1603710" cy="1789548"/>
          </a:xfrm>
          <a:prstGeom prst="rect">
            <a:avLst/>
          </a:prstGeom>
          <a:solidFill>
            <a:srgbClr val="44546A">
              <a:alpha val="40000"/>
            </a:srgbClr>
          </a:solidFill>
          <a:ln w="27940">
            <a:solidFill>
              <a:schemeClr val="tx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MY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7BD54CD-4EBC-ACD2-FA18-648FC23AFBAB}"/>
              </a:ext>
            </a:extLst>
          </p:cNvPr>
          <p:cNvSpPr/>
          <p:nvPr/>
        </p:nvSpPr>
        <p:spPr>
          <a:xfrm>
            <a:off x="10465581" y="1065894"/>
            <a:ext cx="1563605" cy="281591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applications.view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C5AFD9F1-73EF-53C8-727D-F24A218C2877}"/>
              </a:ext>
            </a:extLst>
          </p:cNvPr>
          <p:cNvSpPr/>
          <p:nvPr/>
        </p:nvSpPr>
        <p:spPr>
          <a:xfrm>
            <a:off x="10465583" y="1531114"/>
            <a:ext cx="1587668" cy="289612"/>
          </a:xfrm>
          <a:prstGeom prst="rect">
            <a:avLst/>
          </a:prstGeom>
          <a:solidFill>
            <a:srgbClr val="70AD47">
              <a:alpha val="50000"/>
            </a:srgbClr>
          </a:solidFill>
          <a:ln w="27940">
            <a:solidFill>
              <a:schemeClr val="accent6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notes.view</a:t>
            </a:r>
            <a:endParaRPr lang="en-MY" sz="120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3AAB913-84BE-BF11-A771-F1D4CFCCDACB}"/>
              </a:ext>
            </a:extLst>
          </p:cNvPr>
          <p:cNvSpPr/>
          <p:nvPr/>
        </p:nvSpPr>
        <p:spPr>
          <a:xfrm>
            <a:off x="10465581" y="1956229"/>
            <a:ext cx="1587668" cy="289612"/>
          </a:xfrm>
          <a:prstGeom prst="rect">
            <a:avLst/>
          </a:prstGeom>
          <a:solidFill>
            <a:srgbClr val="FFC000">
              <a:alpha val="40000"/>
            </a:srgbClr>
          </a:solidFill>
          <a:ln w="27940">
            <a:solidFill>
              <a:schemeClr val="accent4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repayments.view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7B87DDA-939A-E7B9-FCFE-909397912D46}"/>
              </a:ext>
            </a:extLst>
          </p:cNvPr>
          <p:cNvSpPr/>
          <p:nvPr/>
        </p:nvSpPr>
        <p:spPr>
          <a:xfrm>
            <a:off x="10465582" y="2429472"/>
            <a:ext cx="1587668" cy="281591"/>
          </a:xfrm>
          <a:prstGeom prst="rect">
            <a:avLst/>
          </a:prstGeom>
          <a:solidFill>
            <a:srgbClr val="A5A5A5">
              <a:alpha val="40000"/>
            </a:srgbClr>
          </a:solidFill>
          <a:ln w="27940">
            <a:solidFill>
              <a:schemeClr val="accent3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service_fees.view</a:t>
            </a: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02FEFE3-E157-ADEA-E903-4242C27F6AA1}"/>
              </a:ext>
            </a:extLst>
          </p:cNvPr>
          <p:cNvSpPr/>
          <p:nvPr/>
        </p:nvSpPr>
        <p:spPr>
          <a:xfrm>
            <a:off x="10465582" y="2854587"/>
            <a:ext cx="1587668" cy="273570"/>
          </a:xfrm>
          <a:prstGeom prst="rect">
            <a:avLst/>
          </a:prstGeom>
          <a:solidFill>
            <a:srgbClr val="44546A">
              <a:alpha val="40000"/>
            </a:srgbClr>
          </a:solidFill>
          <a:ln w="27940">
            <a:solidFill>
              <a:schemeClr val="tx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/>
              <a:t>disbursements.view</a:t>
            </a: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990D6AB-E77A-E31C-C225-4F6FD5D32782}"/>
              </a:ext>
            </a:extLst>
          </p:cNvPr>
          <p:cNvSpPr/>
          <p:nvPr/>
        </p:nvSpPr>
        <p:spPr>
          <a:xfrm>
            <a:off x="166550" y="2990946"/>
            <a:ext cx="9961647" cy="2711969"/>
          </a:xfrm>
          <a:prstGeom prst="rect">
            <a:avLst/>
          </a:prstGeom>
          <a:solidFill>
            <a:srgbClr val="7030A0">
              <a:alpha val="40000"/>
            </a:srgbClr>
          </a:solidFill>
          <a:ln w="279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8F3E5D4E-06F6-411D-8CD9-A092694E29AD}"/>
              </a:ext>
            </a:extLst>
          </p:cNvPr>
          <p:cNvSpPr/>
          <p:nvPr/>
        </p:nvSpPr>
        <p:spPr>
          <a:xfrm>
            <a:off x="10465581" y="3319808"/>
            <a:ext cx="1812258" cy="273570"/>
          </a:xfrm>
          <a:prstGeom prst="rect">
            <a:avLst/>
          </a:prstGeom>
          <a:solidFill>
            <a:srgbClr val="7030A0">
              <a:alpha val="40000"/>
            </a:srgbClr>
          </a:solidFill>
          <a:ln w="27940">
            <a:solidFill>
              <a:srgbClr val="7030A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dashboard.finance.view</a:t>
            </a:r>
          </a:p>
        </p:txBody>
      </p:sp>
    </p:spTree>
    <p:extLst>
      <p:ext uri="{BB962C8B-B14F-4D97-AF65-F5344CB8AC3E}">
        <p14:creationId xmlns:p14="http://schemas.microsoft.com/office/powerpoint/2010/main" val="513705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E9933-E298-E541-36CF-0853F74A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" y="0"/>
            <a:ext cx="9876115" cy="581404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995209D4-95C6-6FB4-0A1E-410933C129F5}"/>
              </a:ext>
            </a:extLst>
          </p:cNvPr>
          <p:cNvSpPr/>
          <p:nvPr/>
        </p:nvSpPr>
        <p:spPr>
          <a:xfrm>
            <a:off x="139" y="-2564"/>
            <a:ext cx="9880606" cy="2332582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34EF84D9-6A5C-52BA-B6AA-AD6128C80359}"/>
              </a:ext>
            </a:extLst>
          </p:cNvPr>
          <p:cNvSpPr/>
          <p:nvPr/>
        </p:nvSpPr>
        <p:spPr>
          <a:xfrm>
            <a:off x="10071949" y="364153"/>
            <a:ext cx="1981206" cy="283335"/>
          </a:xfrm>
          <a:prstGeom prst="rect">
            <a:avLst/>
          </a:prstGeom>
          <a:solidFill>
            <a:srgbClr val="2F6BFF">
              <a:alpha val="22000"/>
            </a:srgbClr>
          </a:solidFill>
          <a:ln w="27940">
            <a:solidFill>
              <a:srgbClr val="2F6BFF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200" err="1"/>
              <a:t>dashboard.operations.view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B3C805EE-0BE8-DC23-E8A0-84D9A38CC58E}"/>
              </a:ext>
            </a:extLst>
          </p:cNvPr>
          <p:cNvSpPr/>
          <p:nvPr/>
        </p:nvSpPr>
        <p:spPr>
          <a:xfrm>
            <a:off x="690" y="2449849"/>
            <a:ext cx="9881437" cy="3497479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FC52B1A8-6D70-33A2-D5BF-07C7AB02E684}"/>
              </a:ext>
            </a:extLst>
          </p:cNvPr>
          <p:cNvSpPr/>
          <p:nvPr/>
        </p:nvSpPr>
        <p:spPr>
          <a:xfrm>
            <a:off x="10073102" y="2765158"/>
            <a:ext cx="1981160" cy="283066"/>
          </a:xfrm>
          <a:prstGeom prst="rect">
            <a:avLst/>
          </a:prstGeom>
          <a:solidFill>
            <a:srgbClr val="ED7D31">
              <a:alpha val="42000"/>
            </a:srgbClr>
          </a:solidFill>
          <a:ln w="27940">
            <a:solidFill>
              <a:schemeClr val="accent2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MY" sz="1200" err="1"/>
              <a:t>dashboard.platform.view</a:t>
            </a:r>
          </a:p>
        </p:txBody>
      </p:sp>
    </p:spTree>
    <p:extLst>
      <p:ext uri="{BB962C8B-B14F-4D97-AF65-F5344CB8AC3E}">
        <p14:creationId xmlns:p14="http://schemas.microsoft.com/office/powerpoint/2010/main" val="388378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51B04F74DA564496E83FEE6D0F8121" ma:contentTypeVersion="9" ma:contentTypeDescription="Create a new document." ma:contentTypeScope="" ma:versionID="33434a459c66c09a85aaf0ae2e10d372">
  <xsd:schema xmlns:xsd="http://www.w3.org/2001/XMLSchema" xmlns:xs="http://www.w3.org/2001/XMLSchema" xmlns:p="http://schemas.microsoft.com/office/2006/metadata/properties" xmlns:ns3="07482088-3595-4c23-87fd-ecc36239e899" targetNamespace="http://schemas.microsoft.com/office/2006/metadata/properties" ma:root="true" ma:fieldsID="6298d4ae291dbd0fcc3bdf6b781b0554" ns3:_="">
    <xsd:import namespace="07482088-3595-4c23-87fd-ecc36239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2088-3595-4c23-87fd-ecc36239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482088-3595-4c23-87fd-ecc36239e899" xsi:nil="true"/>
  </documentManagement>
</p:properties>
</file>

<file path=customXml/itemProps1.xml><?xml version="1.0" encoding="utf-8"?>
<ds:datastoreItem xmlns:ds="http://schemas.openxmlformats.org/officeDocument/2006/customXml" ds:itemID="{EF59FC3C-7D5A-42E6-BF26-1DD3DA0A85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7D1A5F-957B-43D3-9934-815A696269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482088-3595-4c23-87fd-ecc36239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DF992A-69C5-4E6A-B9A4-2E6EF0BFA35E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  <ds:schemaRef ds:uri="07482088-3595-4c23-87fd-ecc36239e899"/>
    <ds:schemaRef ds:uri="http://purl.org/dc/terms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329</Words>
  <Application>Microsoft Office PowerPoint</Application>
  <PresentationFormat>Widescreen</PresentationFormat>
  <Paragraphs>109</Paragraphs>
  <Slides>47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Cashsouk RBAC Annotations — Notes, Applications, Onboarding</dc:title>
  <dc:subject>Cashsouk RBAC annotation deck</dc:subject>
  <dc:creator>OpenAI</dc:creator>
  <cp:lastModifiedBy>Max C'hng</cp:lastModifiedBy>
  <cp:revision>10</cp:revision>
  <dcterms:created xsi:type="dcterms:W3CDTF">2026-06-11T21:35:54Z</dcterms:created>
  <dcterms:modified xsi:type="dcterms:W3CDTF">2026-06-21T12:17:32Z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0x010100B651B04F74DA564496E83FEE6D0F8121</vt:lpwstr>
  </property>
</Properties>
</file>